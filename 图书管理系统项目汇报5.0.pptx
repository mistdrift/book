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9" r:id="rId6"/>
    <p:sldId id="257" r:id="rId7"/>
    <p:sldId id="258" r:id="rId8"/>
    <p:sldId id="260" r:id="rId9"/>
    <p:sldId id="261" r:id="rId10"/>
    <p:sldId id="262" r:id="rId11"/>
    <p:sldId id="263" r:id="rId12"/>
    <p:sldId id="264" r:id="rId13"/>
    <p:sldId id="265" r:id="rId14"/>
    <p:sldId id="266" r:id="rId15"/>
    <p:sldId id="267" r:id="rId16"/>
    <p:sldId id="268" r:id="rId17"/>
    <p:sldId id="269" r:id="rId18"/>
    <p:sldId id="270" r:id="rId19"/>
    <p:sldId id="274" r:id="rId20"/>
    <p:sldId id="271"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36" userDrawn="1">
          <p15:clr>
            <a:srgbClr val="A4A3A4"/>
          </p15:clr>
        </p15:guide>
        <p15:guide id="2" pos="2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536"/>
        <p:guide pos="291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我们的项目汇报。今天，我们将为大家展示一个用代码编织的数字魔法世界——图书管理系统。这个系统不仅是一个实训项目，更是我们将理论知识转化为实际应用的一次精彩冒险。接下来，让我们一起探索这个系统背后的奥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旨在解决传统图书管理效率低下的问题。为此，我们设定了三个核心目标：首先，深入理解业务逻辑，这是我们构建一切的基础；其次，熟练掌握CRUD和权限控制等核心技术，这是我们施展魔法的基本咒语；最后，培养解决并发等实际问题的能力，这是我们应对复杂情况的实战技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三个部分。首先，我们将展示项目的“魔法蓝图”，包括项目的背景、目标和技术设计。接着，我们会揭秘系统的“核心咒语”，也就是核心功能的实现和我们遇到的挑战。最后，我们将分享“魔法成果”，对项目进行总结并展望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现在，让我们进入第一部分：魔法蓝图。在这里，我们将详细介绍项目的起源、我们的目标，以及构建这个数字世界所遵循的设计原则。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我们的技术架构分为前端和后端两部分。前端，我们使用Bootstrap等技术，就像施展外观魔咒，打造了美观易用的界面。后端，我们选择了强大的Spring Boot框架，作为系统的核心魔法引擎，稳定地处理所有业务请求。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数据库设计上，我们精心设计了四张核心表，它们就像魔法世界的四大基础元素。图书表记录着每一本魔法书的信息；读者表管理着每一位借阅者；借阅记录表追踪着每一次借阅行为；而管理员表则守护着整个系统的秩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接下来，我们进入第二部分，揭示系统的核心咒语。我们将展示系统的主要功能，并分享在开发过程中遇到的挑战以及我们是如何用智慧和代码化解它们的。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拥有三大核心功能模块。图书管理模块，像一个强大的分类整理咒，让图书管理变得轻而易举。读者管理模块，如同人形显影术，让我们能精准地管理每一位读者。而借阅管理模块，则结合了飞来咒和归位咒的精髓，确保图书的高效流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开发中遇到的第一个挑战是并发问题。想象一下，当多个用户同时点击借阅最后一本书时会发生什么？为了防止这种“库存超卖”的魔法事故，我们发明了一种新咒语——“乐观锁”。它能确保每次操作都基于最新的数据状态，完美地解决了数据一致性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难点是权限控制。我们如何确保不同的管理员只能做他们该做的事情？我们设计了一个名为RBAC的魔法阵。它将用户、角色和权限巧妙地联系在一起，确保每个用户都像持有专属魔杖一样，只能施展被授权的魔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挑战是如何无侵入地记录操作日志。我们采用了AOP，也就是面向切面编程这项高级魔法。它像一个隐形的史官，在不打扰主业务流程的情况下，忠实地记录下每一次关键操作，为系统的安全和可追溯性提供了保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现在，我们来到最后一部分：魔法成果。在这里，我们将回顾整个项目的收获，并展望这个数字魔法世界的未来。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整个项目，我们收获满满。我们不仅成功交付了核心功能，更重要的是，我们完整地经历了一次Web应用的开发流程，从一个想法到一个可用的系统。在解决并发、权限等工程化问题的过程中，我们的实战能力得到了极大的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展望未来，这个数字魔法世界还有无限可能。我们计划引入数据分析，让系统变得更智能；探索微服务架构，让系统更具扩展性；并持续优化用户体验，让每个人都能享受到更便捷的服务。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最后，这是我们本次实训的成果交付清单。它包括了可运行的系统源码、核心代码与UI截图、详细的项目文档，以及今天的演示汇报。这些共同构成了我们这次魔法冒险的完整记录。</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我的汇报到此结束。感谢各位老师和同学的耐心聆听。我们非常乐意回答大家的提问，并进行更深入的交流。谢谢大家！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notesSlide" Target="../notesSlides/notesSlide1.xml"/><Relationship Id="rId11" Type="http://schemas.openxmlformats.org/officeDocument/2006/relationships/slideLayout" Target="../slideLayouts/slideLayout12.xml"/><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3.xml"/><Relationship Id="rId12" Type="http://schemas.openxmlformats.org/officeDocument/2006/relationships/slideLayout" Target="../slideLayouts/slideLayout12.xml"/><Relationship Id="rId11" Type="http://schemas.openxmlformats.org/officeDocument/2006/relationships/image" Target="../media/image13.png"/><Relationship Id="rId10" Type="http://schemas.openxmlformats.org/officeDocument/2006/relationships/image" Target="../media/image15.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4.xml"/><Relationship Id="rId12" Type="http://schemas.openxmlformats.org/officeDocument/2006/relationships/slideLayout" Target="../slideLayouts/slideLayout12.xml"/><Relationship Id="rId11" Type="http://schemas.openxmlformats.org/officeDocument/2006/relationships/image" Target="../media/image13.png"/><Relationship Id="rId10" Type="http://schemas.openxmlformats.org/officeDocument/2006/relationships/image" Target="../media/image1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0" Type="http://schemas.openxmlformats.org/officeDocument/2006/relationships/notesSlide" Target="../notesSlides/notesSlide5.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7.xml"/><Relationship Id="rId12" Type="http://schemas.openxmlformats.org/officeDocument/2006/relationships/slideLayout" Target="../slideLayouts/slideLayout12.xml"/><Relationship Id="rId11" Type="http://schemas.openxmlformats.org/officeDocument/2006/relationships/image" Target="../media/image13.png"/><Relationship Id="rId10" Type="http://schemas.openxmlformats.org/officeDocument/2006/relationships/image" Target="../media/image1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25.sv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image" Target="../media/image13.png"/><Relationship Id="rId10" Type="http://schemas.openxmlformats.org/officeDocument/2006/relationships/image" Target="../media/image15.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0" Type="http://schemas.openxmlformats.org/officeDocument/2006/relationships/notesSlide" Target="../notesSlides/notesSlide13.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svg"/><Relationship Id="rId7" Type="http://schemas.openxmlformats.org/officeDocument/2006/relationships/image" Target="../media/image34.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4" Type="http://schemas.openxmlformats.org/officeDocument/2006/relationships/notesSlide" Target="../notesSlides/notesSlide14.xml"/><Relationship Id="rId13" Type="http://schemas.openxmlformats.org/officeDocument/2006/relationships/slideLayout" Target="../slideLayouts/slideLayout12.xml"/><Relationship Id="rId12" Type="http://schemas.openxmlformats.org/officeDocument/2006/relationships/image" Target="../media/image39.svg"/><Relationship Id="rId11" Type="http://schemas.openxmlformats.org/officeDocument/2006/relationships/image" Target="../media/image38.png"/><Relationship Id="rId10" Type="http://schemas.openxmlformats.org/officeDocument/2006/relationships/image" Target="../media/image37.sv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1.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17.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4" Type="http://schemas.openxmlformats.org/officeDocument/2006/relationships/notesSlide" Target="../notesSlides/notesSlide16.xml"/><Relationship Id="rId13" Type="http://schemas.openxmlformats.org/officeDocument/2006/relationships/slideLayout" Target="../slideLayouts/slideLayout12.xml"/><Relationship Id="rId12" Type="http://schemas.openxmlformats.org/officeDocument/2006/relationships/image" Target="../media/image10.png"/><Relationship Id="rId11" Type="http://schemas.openxmlformats.org/officeDocument/2006/relationships/image" Target="../media/image9.png"/><Relationship Id="rId10" Type="http://schemas.openxmlformats.org/officeDocument/2006/relationships/image" Target="../media/image13.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010920" y="112522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444500"/>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52600"/>
            <a:ext cx="4787900" cy="10375900"/>
          </a:xfrm>
          <a:prstGeom prst="rect">
            <a:avLst/>
          </a:prstGeom>
          <a:noFill/>
          <a:ln w="25400" cap="flat" cmpd="sng">
            <a:noFill/>
            <a:prstDash val="solid"/>
            <a:round/>
          </a:ln>
        </p:spPr>
      </p:pic>
      <p:sp>
        <p:nvSpPr>
          <p:cNvPr id="9" name="AutoShape 9"/>
          <p:cNvSpPr/>
          <p:nvPr/>
        </p:nvSpPr>
        <p:spPr>
          <a:xfrm>
            <a:off x="635000" y="2286000"/>
            <a:ext cx="7620000" cy="1206500"/>
          </a:xfrm>
          <a:prstGeom prst="roundRect">
            <a:avLst>
              <a:gd name="adj" fmla="val 0"/>
            </a:avLst>
          </a:prstGeom>
          <a:noFill/>
          <a:ln w="25400" cap="flat" cmpd="sng">
            <a:noFill/>
            <a:prstDash val="solid"/>
            <a:round/>
          </a:ln>
        </p:spPr>
        <p:txBody>
          <a:bodyPr vert="horz" wrap="none" lIns="88900" tIns="50800" rIns="88900" bIns="50800" rtlCol="0" anchor="ctr" anchorCtr="0"/>
          <a:lstStyle/>
          <a:p>
            <a:pPr indent="0" algn="l">
              <a:lnSpc>
                <a:spcPct val="100000"/>
              </a:lnSpc>
              <a:defRPr/>
            </a:pPr>
            <a:r>
              <a:rPr lang="en-US" sz="56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《图书管理系统》</a:t>
            </a:r>
            <a:endParaRPr lang="en-US" sz="1100"/>
          </a:p>
        </p:txBody>
      </p:sp>
      <p:sp>
        <p:nvSpPr>
          <p:cNvPr id="10" name="AutoShape 10"/>
          <p:cNvSpPr/>
          <p:nvPr/>
        </p:nvSpPr>
        <p:spPr>
          <a:xfrm>
            <a:off x="635000" y="1778000"/>
            <a:ext cx="5080000" cy="5080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4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 SUMMARY REPORT</a:t>
            </a:r>
            <a:endParaRPr lang="en-US" sz="1100"/>
          </a:p>
        </p:txBody>
      </p:sp>
      <p:pic>
        <p:nvPicPr>
          <p:cNvPr id="11" name="Picture 11"/>
          <p:cNvPicPr/>
          <p:nvPr/>
        </p:nvPicPr>
        <p:blipFill>
          <a:blip r:embed="rId9"/>
          <a:srcRect/>
          <a:stretch>
            <a:fillRect/>
          </a:stretch>
        </p:blipFill>
        <p:spPr>
          <a:xfrm>
            <a:off x="-952500" y="4171315"/>
            <a:ext cx="6480000" cy="648000"/>
          </a:xfrm>
          <a:prstGeom prst="rect">
            <a:avLst/>
          </a:prstGeom>
          <a:noFill/>
          <a:ln w="25400" cap="flat" cmpd="sng">
            <a:noFill/>
            <a:prstDash val="solid"/>
            <a:round/>
          </a:ln>
        </p:spPr>
      </p:pic>
      <p:sp>
        <p:nvSpPr>
          <p:cNvPr id="12" name="AutoShape 12"/>
          <p:cNvSpPr/>
          <p:nvPr/>
        </p:nvSpPr>
        <p:spPr>
          <a:xfrm>
            <a:off x="3009265" y="3297555"/>
            <a:ext cx="5347335" cy="52959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400" b="0" i="0" u="none" strike="noStrike">
                <a:solidFill>
                  <a:srgbClr val="6A529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一个用代码编织的数字魔法世界</a:t>
            </a:r>
            <a:endParaRPr lang="en-US" sz="2400"/>
          </a:p>
        </p:txBody>
      </p:sp>
      <p:sp>
        <p:nvSpPr>
          <p:cNvPr id="13" name="AutoShape 13"/>
          <p:cNvSpPr/>
          <p:nvPr/>
        </p:nvSpPr>
        <p:spPr>
          <a:xfrm>
            <a:off x="634365" y="5622290"/>
            <a:ext cx="6604635" cy="1042035"/>
          </a:xfrm>
          <a:prstGeom prst="roundRect">
            <a:avLst>
              <a:gd name="adj" fmla="val 9090"/>
            </a:avLst>
          </a:prstGeom>
          <a:noFill/>
          <a:ln w="25400" cap="flat" cmpd="sng">
            <a:noFill/>
            <a:prstDash val="solid"/>
            <a:round/>
          </a:ln>
        </p:spPr>
        <p:txBody>
          <a:bodyPr vert="horz" wrap="square" lIns="190500" tIns="127000" rIns="190500" bIns="127000" rtlCol="0" anchor="t" anchorCtr="0"/>
          <a:lstStyle/>
          <a:p>
            <a:pPr indent="0" algn="l">
              <a:lnSpc>
                <a:spcPct val="125000"/>
              </a:lnSpc>
              <a:defRPr/>
            </a:pPr>
            <a:r>
              <a:rPr lang="zh-CN" altLang="en-US" sz="1800" b="1"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rPr>
              <a:t>小组成员</a:t>
            </a:r>
            <a:r>
              <a:rPr lang="en-US" sz="1800" b="1"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rPr>
              <a:t>： 姚逸雪 缪丽娟 郝全书 李安娜 韩鼎明</a:t>
            </a:r>
            <a:endParaRPr lang="en-US" sz="1800" b="1"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endParaRPr lang="en-US" sz="1800" b="0" i="0" u="none" strike="noStrike">
              <a:solidFill>
                <a:srgbClr val="B4B4B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4" name="Picture 14"/>
          <p:cNvPicPr>
            <a:picLocks noChangeAspect="1"/>
          </p:cNvPicPr>
          <p:nvPr/>
        </p:nvPicPr>
        <p:blipFill>
          <a:blip r:embed="rId10"/>
          <a:srcRect/>
          <a:stretch>
            <a:fillRect/>
          </a:stretch>
        </p:blipFill>
        <p:spPr>
          <a:xfrm>
            <a:off x="8356600" y="2438400"/>
            <a:ext cx="2971800" cy="3594100"/>
          </a:xfrm>
          <a:prstGeom prst="rect">
            <a:avLst/>
          </a:prstGeom>
          <a:noFill/>
          <a:ln w="25400" cap="flat" cmpd="sng">
            <a:noFill/>
            <a:prstDash val="solid"/>
            <a:round/>
          </a:ln>
        </p:spPr>
      </p:pic>
      <p:sp>
        <p:nvSpPr>
          <p:cNvPr id="15" name="文本框 14"/>
          <p:cNvSpPr txBox="1"/>
          <p:nvPr/>
        </p:nvSpPr>
        <p:spPr>
          <a:xfrm>
            <a:off x="890905" y="4222115"/>
            <a:ext cx="3140075" cy="953135"/>
          </a:xfrm>
          <a:prstGeom prst="rect">
            <a:avLst/>
          </a:prstGeom>
          <a:noFill/>
        </p:spPr>
        <p:txBody>
          <a:bodyPr wrap="square" rtlCol="0">
            <a:spAutoFit/>
          </a:bodyPr>
          <a:p>
            <a:r>
              <a:rPr lang="zh-CN" altLang="en-US" sz="2800"/>
              <a:t>汇报人：王子怡</a:t>
            </a:r>
            <a:endParaRPr lang="zh-CN" altLang="en-US" sz="2800"/>
          </a:p>
          <a:p>
            <a:endParaRPr lang="zh-CN" altLang="en-US" sz="2800"/>
          </a:p>
        </p:txBody>
      </p:sp>
      <p:pic>
        <p:nvPicPr>
          <p:cNvPr id="16" name="Picture 11"/>
          <p:cNvPicPr/>
          <p:nvPr/>
        </p:nvPicPr>
        <p:blipFill>
          <a:blip r:embed="rId9"/>
          <a:srcRect/>
          <a:stretch>
            <a:fillRect/>
          </a:stretch>
        </p:blipFill>
        <p:spPr>
          <a:xfrm>
            <a:off x="2171700" y="4171315"/>
            <a:ext cx="7560000" cy="647700"/>
          </a:xfrm>
          <a:prstGeom prst="rect">
            <a:avLst/>
          </a:prstGeom>
          <a:noFill/>
          <a:ln w="25400" cap="flat" cmpd="sng">
            <a:noFill/>
            <a:prstDash val="solid"/>
            <a:round/>
          </a:ln>
        </p:spPr>
      </p:pic>
      <p:sp>
        <p:nvSpPr>
          <p:cNvPr id="17" name="文本框 16"/>
          <p:cNvSpPr txBox="1"/>
          <p:nvPr/>
        </p:nvSpPr>
        <p:spPr>
          <a:xfrm>
            <a:off x="4140200" y="4221480"/>
            <a:ext cx="4260850" cy="521970"/>
          </a:xfrm>
          <a:prstGeom prst="rect">
            <a:avLst/>
          </a:prstGeom>
          <a:noFill/>
        </p:spPr>
        <p:txBody>
          <a:bodyPr wrap="square" rtlCol="0">
            <a:spAutoFit/>
          </a:bodyPr>
          <a:p>
            <a:r>
              <a:rPr lang="zh-CN" altLang="en-US" sz="2800">
                <a:sym typeface="+mn-ea"/>
              </a:rPr>
              <a:t>时间：</a:t>
            </a:r>
            <a:r>
              <a:rPr lang="en-US" altLang="zh-CN" sz="2800">
                <a:sym typeface="+mn-ea"/>
              </a:rPr>
              <a:t>2026</a:t>
            </a:r>
            <a:r>
              <a:rPr lang="zh-CN" altLang="en-US" sz="2800">
                <a:sym typeface="+mn-ea"/>
              </a:rPr>
              <a:t>年</a:t>
            </a:r>
            <a:r>
              <a:rPr lang="en-US" altLang="zh-CN" sz="2800">
                <a:sym typeface="+mn-ea"/>
              </a:rPr>
              <a:t>5</a:t>
            </a:r>
            <a:r>
              <a:rPr lang="zh-CN" altLang="en-US" sz="2800">
                <a:sym typeface="+mn-ea"/>
              </a:rPr>
              <a:t>月</a:t>
            </a:r>
            <a:r>
              <a:rPr lang="en-US" altLang="zh-CN" sz="2800">
                <a:sym typeface="+mn-ea"/>
              </a:rPr>
              <a:t>27</a:t>
            </a:r>
            <a:r>
              <a:rPr lang="zh-CN" altLang="en-US" sz="2800">
                <a:sym typeface="+mn-ea"/>
              </a:rPr>
              <a:t>日</a:t>
            </a:r>
            <a:endParaRPr lang="zh-CN"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43815" y="-467995"/>
            <a:ext cx="12192000" cy="6858000"/>
          </a:xfrm>
          <a:prstGeom prst="rect">
            <a:avLst/>
          </a:prstGeom>
          <a:noFill/>
          <a:ln w="25400" cap="flat" cmpd="sng">
            <a:noFill/>
            <a:prstDash val="solid"/>
            <a:round/>
          </a:ln>
        </p:spPr>
      </p:pic>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endParaRPr lang="en-US" sz="1100"/>
          </a:p>
        </p:txBody>
      </p:sp>
      <p:sp>
        <p:nvSpPr>
          <p:cNvPr id="8" name="AutoShape 8"/>
          <p:cNvSpPr/>
          <p:nvPr/>
        </p:nvSpPr>
        <p:spPr>
          <a:xfrm>
            <a:off x="4232275" y="647700"/>
            <a:ext cx="5051425"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zh-CN" altLang="en-US" sz="28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项目概述与设计</a:t>
            </a:r>
            <a:endParaRPr lang="zh-CN" altLang="en-US" sz="28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0" name="AutoShape 10"/>
          <p:cNvSpPr/>
          <p:nvPr/>
        </p:nvSpPr>
        <p:spPr>
          <a:xfrm>
            <a:off x="1092200" y="2032000"/>
            <a:ext cx="711200" cy="495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33000"/>
              </a:lnSpc>
              <a:defRPr/>
            </a:pPr>
            <a:endParaRPr lang="zh-CN" alt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2" name="AutoShape 12"/>
          <p:cNvSpPr/>
          <p:nvPr/>
        </p:nvSpPr>
        <p:spPr>
          <a:xfrm>
            <a:off x="913130" y="1812290"/>
            <a:ext cx="10199370" cy="3447415"/>
          </a:xfrm>
          <a:prstGeom prst="roundRect">
            <a:avLst>
              <a:gd name="adj" fmla="val 14423"/>
            </a:avLst>
          </a:prstGeom>
          <a:solidFill>
            <a:srgbClr val="A28EB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92200" y="3479800"/>
            <a:ext cx="7400290" cy="495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33000"/>
              </a:lnSpc>
              <a:defRPr/>
            </a:pPr>
            <a:endParaRPr lang="en-US" sz="1100"/>
          </a:p>
        </p:txBody>
      </p:sp>
      <p:sp>
        <p:nvSpPr>
          <p:cNvPr id="16" name="AutoShape 16"/>
          <p:cNvSpPr/>
          <p:nvPr/>
        </p:nvSpPr>
        <p:spPr>
          <a:xfrm>
            <a:off x="1092200" y="4876800"/>
            <a:ext cx="711200" cy="495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33000"/>
              </a:lnSpc>
              <a:defRPr/>
            </a:pPr>
            <a:endParaRPr lang="en-US" sz="1100"/>
          </a:p>
        </p:txBody>
      </p:sp>
      <p:sp>
        <p:nvSpPr>
          <p:cNvPr id="17" name="AutoShape 17"/>
          <p:cNvSpPr/>
          <p:nvPr/>
        </p:nvSpPr>
        <p:spPr>
          <a:xfrm>
            <a:off x="1317625" y="2376805"/>
            <a:ext cx="9794875" cy="2882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just">
              <a:lnSpc>
                <a:spcPct val="117000"/>
              </a:lnSpc>
              <a:defRPr/>
            </a:pPr>
            <a:r>
              <a:rPr lang="en-US" sz="1800" b="1" i="0">
                <a:solidFill>
                  <a:schemeClr val="bg1"/>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随着信息化管理普及，传统人工图书管理效率低、易出错、数据统计困难，难以满足日常借阅、库存管理与权限管控需求。为提升图书管理规范化、自动化水平，本次实训开发图书管理系统。系统采用HTML+CSS+JavaScript+Bootstrap构建前端界面，后端使用C/Java实现业务逻辑，以MySQL存储数据，完成图书管理、读者管理、借阅续借、数据统计、日志记录、报表导出等核心功能。系统支持管理员与普通用户权限分离，保证数据安全与一致性；同时解决并发访问、库存超卖、数据更新异常等问题，提升系统稳定性与可维护性。通过项目开发，掌握CRUD操作、权限控制、数据库设计，提升Web开发能力与工程实践能力。</a:t>
            </a:r>
            <a:endParaRPr lang="en-US" sz="1800" b="1" i="0">
              <a:solidFill>
                <a:schemeClr val="bg1"/>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901700" y="109220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549275"/>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27200"/>
            <a:ext cx="4787900" cy="10375900"/>
          </a:xfrm>
          <a:prstGeom prst="rect">
            <a:avLst/>
          </a:prstGeom>
          <a:noFill/>
          <a:ln w="25400" cap="flat" cmpd="sng">
            <a:noFill/>
            <a:prstDash val="solid"/>
            <a:round/>
          </a:ln>
        </p:spPr>
      </p:pic>
      <p:pic>
        <p:nvPicPr>
          <p:cNvPr id="9" name="Picture 9"/>
          <p:cNvPicPr>
            <a:picLocks noChangeAspect="1"/>
          </p:cNvPicPr>
          <p:nvPr/>
        </p:nvPicPr>
        <p:blipFill>
          <a:blip r:embed="rId9"/>
          <a:srcRect/>
          <a:stretch>
            <a:fillRect/>
          </a:stretch>
        </p:blipFill>
        <p:spPr>
          <a:xfrm>
            <a:off x="7162800" y="50800"/>
            <a:ext cx="4356100" cy="6807200"/>
          </a:xfrm>
          <a:prstGeom prst="rect">
            <a:avLst/>
          </a:prstGeom>
          <a:noFill/>
          <a:ln w="25400" cap="flat" cmpd="sng">
            <a:noFill/>
            <a:prstDash val="solid"/>
            <a:round/>
          </a:ln>
        </p:spPr>
      </p:pic>
      <p:pic>
        <p:nvPicPr>
          <p:cNvPr id="10" name="Picture 10"/>
          <p:cNvPicPr>
            <a:picLocks noChangeAspect="1"/>
          </p:cNvPicPr>
          <p:nvPr/>
        </p:nvPicPr>
        <p:blipFill>
          <a:blip r:embed="rId10"/>
          <a:srcRect/>
          <a:stretch>
            <a:fillRect/>
          </a:stretch>
        </p:blipFill>
        <p:spPr>
          <a:xfrm>
            <a:off x="8331200" y="2120900"/>
            <a:ext cx="3441700" cy="4178300"/>
          </a:xfrm>
          <a:prstGeom prst="rect">
            <a:avLst/>
          </a:prstGeom>
          <a:noFill/>
          <a:ln w="25400" cap="flat" cmpd="sng">
            <a:noFill/>
            <a:prstDash val="solid"/>
            <a:round/>
          </a:ln>
        </p:spPr>
      </p:pic>
      <p:sp>
        <p:nvSpPr>
          <p:cNvPr id="11" name="AutoShape 11"/>
          <p:cNvSpPr/>
          <p:nvPr/>
        </p:nvSpPr>
        <p:spPr>
          <a:xfrm>
            <a:off x="1193800" y="1092200"/>
            <a:ext cx="1727200" cy="10160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ctr">
              <a:lnSpc>
                <a:spcPct val="100000"/>
              </a:lnSpc>
              <a:defRPr/>
            </a:pPr>
            <a:r>
              <a:rPr lang="en-US" sz="6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目录</a:t>
            </a:r>
            <a:endParaRPr lang="en-US" sz="1100"/>
          </a:p>
        </p:txBody>
      </p:sp>
      <p:sp>
        <p:nvSpPr>
          <p:cNvPr id="12" name="AutoShape 12"/>
          <p:cNvSpPr/>
          <p:nvPr/>
        </p:nvSpPr>
        <p:spPr>
          <a:xfrm>
            <a:off x="1308100" y="1917700"/>
            <a:ext cx="1562100" cy="3683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1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CONTENT</a:t>
            </a:r>
            <a:endParaRPr lang="en-US" sz="1100"/>
          </a:p>
        </p:txBody>
      </p:sp>
      <p:pic>
        <p:nvPicPr>
          <p:cNvPr id="13" name="Picture 13"/>
          <p:cNvPicPr>
            <a:picLocks noChangeAspect="1"/>
          </p:cNvPicPr>
          <p:nvPr/>
        </p:nvPicPr>
        <p:blipFill>
          <a:blip r:embed="rId11"/>
          <a:srcRect t="86704"/>
          <a:stretch>
            <a:fillRect/>
          </a:stretch>
        </p:blipFill>
        <p:spPr>
          <a:xfrm>
            <a:off x="0" y="4787900"/>
            <a:ext cx="12192000" cy="2070100"/>
          </a:xfrm>
          <a:prstGeom prst="rect">
            <a:avLst/>
          </a:prstGeom>
          <a:noFill/>
          <a:ln w="25400" cap="flat" cmpd="sng">
            <a:noFill/>
            <a:prstDash val="solid"/>
            <a:round/>
          </a:ln>
        </p:spPr>
      </p:pic>
      <p:sp>
        <p:nvSpPr>
          <p:cNvPr id="14" name="AutoShape 14"/>
          <p:cNvSpPr/>
          <p:nvPr/>
        </p:nvSpPr>
        <p:spPr>
          <a:xfrm>
            <a:off x="1333500" y="27432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282700" y="27178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16" name="AutoShape 16"/>
          <p:cNvSpPr/>
          <p:nvPr/>
        </p:nvSpPr>
        <p:spPr>
          <a:xfrm>
            <a:off x="2051050" y="2717800"/>
            <a:ext cx="5715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魔法蓝图：</a:t>
            </a:r>
            <a:r>
              <a:rPr lang="en-US" sz="2400" b="1">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系统怎么搭起来的？</a:t>
            </a:r>
            <a:endParaRPr lang="en-US" sz="2400"/>
          </a:p>
          <a:p>
            <a:pPr indent="0" algn="l">
              <a:lnSpc>
                <a:spcPct val="100000"/>
              </a:lnSpc>
              <a:defRPr/>
            </a:pPr>
            <a:endParaRPr lang="en-US" sz="2400">
              <a:solidFill>
                <a:srgbClr val="FFFFFF"/>
              </a:solidFill>
              <a:latin typeface="Noto Serif SC" panose="02020200000000000000" charset="-122"/>
              <a:ea typeface="Noto Serif SC" panose="02020200000000000000" charset="-122"/>
              <a:cs typeface="Noto Serif SC" panose="02020200000000000000" charset="-122"/>
            </a:endParaRPr>
          </a:p>
        </p:txBody>
      </p:sp>
      <p:sp>
        <p:nvSpPr>
          <p:cNvPr id="17" name="AutoShape 17"/>
          <p:cNvSpPr/>
          <p:nvPr/>
        </p:nvSpPr>
        <p:spPr>
          <a:xfrm>
            <a:off x="2082800" y="3248025"/>
            <a:ext cx="52070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dist">
              <a:lnSpc>
                <a:spcPct val="100000"/>
              </a:lnSpc>
              <a:defRPr/>
            </a:pPr>
            <a:r>
              <a:rPr lang="en-US" sz="1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The Blueprint of Our Magic</a:t>
            </a:r>
            <a:endParaRPr lang="en-US" sz="1100"/>
          </a:p>
        </p:txBody>
      </p:sp>
      <p:sp>
        <p:nvSpPr>
          <p:cNvPr id="18" name="AutoShape 18"/>
          <p:cNvSpPr/>
          <p:nvPr/>
        </p:nvSpPr>
        <p:spPr>
          <a:xfrm>
            <a:off x="1333500" y="36830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282700" y="36576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20" name="AutoShape 20"/>
          <p:cNvSpPr/>
          <p:nvPr/>
        </p:nvSpPr>
        <p:spPr>
          <a:xfrm>
            <a:off x="2082800" y="3605530"/>
            <a:ext cx="5714365" cy="457835"/>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92000"/>
              </a:lnSpc>
              <a:defRPr/>
            </a:pPr>
            <a:r>
              <a:rPr lang="en-US" sz="22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核心咒语：</a:t>
            </a:r>
            <a:r>
              <a:rPr lang="en-US" sz="2400" b="1">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系统怎么连起来的？</a:t>
            </a:r>
            <a:endParaRPr lang="en-US" sz="2400"/>
          </a:p>
        </p:txBody>
      </p:sp>
      <p:sp>
        <p:nvSpPr>
          <p:cNvPr id="21" name="AutoShape 21"/>
          <p:cNvSpPr/>
          <p:nvPr/>
        </p:nvSpPr>
        <p:spPr>
          <a:xfrm>
            <a:off x="2082800" y="4063365"/>
            <a:ext cx="5080000" cy="292735"/>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dist">
              <a:lnSpc>
                <a:spcPct val="100000"/>
              </a:lnSpc>
              <a:defRPr/>
            </a:pPr>
            <a:r>
              <a:rPr lang="en-US" sz="1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The Core Spells and Challenges</a:t>
            </a:r>
            <a:endParaRPr lang="en-US" sz="1100"/>
          </a:p>
        </p:txBody>
      </p:sp>
      <p:sp>
        <p:nvSpPr>
          <p:cNvPr id="22" name="AutoShape 22"/>
          <p:cNvSpPr/>
          <p:nvPr/>
        </p:nvSpPr>
        <p:spPr>
          <a:xfrm>
            <a:off x="1333500" y="46228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282700" y="45974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24" name="AutoShape 24"/>
          <p:cNvSpPr/>
          <p:nvPr/>
        </p:nvSpPr>
        <p:spPr>
          <a:xfrm>
            <a:off x="2082800" y="4465955"/>
            <a:ext cx="5715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2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魔法成果：</a:t>
            </a:r>
            <a:r>
              <a:rPr lang="en-US" sz="2400" b="1">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总结与收获</a:t>
            </a:r>
            <a:endParaRPr lang="en-US" sz="2400"/>
          </a:p>
        </p:txBody>
      </p:sp>
      <p:sp>
        <p:nvSpPr>
          <p:cNvPr id="25" name="AutoShape 25"/>
          <p:cNvSpPr/>
          <p:nvPr/>
        </p:nvSpPr>
        <p:spPr>
          <a:xfrm>
            <a:off x="2082800" y="4923155"/>
            <a:ext cx="5080000" cy="342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dist">
              <a:lnSpc>
                <a:spcPct val="100000"/>
              </a:lnSpc>
              <a:defRPr/>
            </a:pPr>
            <a:r>
              <a:rPr lang="en-US" sz="1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The Magic Achievements and Future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952500" y="111760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444500"/>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27200"/>
            <a:ext cx="4787900" cy="10375900"/>
          </a:xfrm>
          <a:prstGeom prst="rect">
            <a:avLst/>
          </a:prstGeom>
          <a:noFill/>
          <a:ln w="25400" cap="flat" cmpd="sng">
            <a:noFill/>
            <a:prstDash val="solid"/>
            <a:round/>
          </a:ln>
        </p:spPr>
      </p:pic>
      <p:pic>
        <p:nvPicPr>
          <p:cNvPr id="9" name="Picture 9"/>
          <p:cNvPicPr>
            <a:picLocks noChangeAspect="1"/>
          </p:cNvPicPr>
          <p:nvPr/>
        </p:nvPicPr>
        <p:blipFill>
          <a:blip r:embed="rId9"/>
          <a:srcRect/>
          <a:stretch>
            <a:fillRect/>
          </a:stretch>
        </p:blipFill>
        <p:spPr>
          <a:xfrm>
            <a:off x="7162800" y="50800"/>
            <a:ext cx="4356100" cy="6807200"/>
          </a:xfrm>
          <a:prstGeom prst="rect">
            <a:avLst/>
          </a:prstGeom>
          <a:noFill/>
          <a:ln w="25400" cap="flat" cmpd="sng">
            <a:noFill/>
            <a:prstDash val="solid"/>
            <a:round/>
          </a:ln>
        </p:spPr>
      </p:pic>
      <p:pic>
        <p:nvPicPr>
          <p:cNvPr id="10" name="Picture 10"/>
          <p:cNvPicPr>
            <a:picLocks noChangeAspect="1"/>
          </p:cNvPicPr>
          <p:nvPr/>
        </p:nvPicPr>
        <p:blipFill>
          <a:blip r:embed="rId10"/>
          <a:srcRect/>
          <a:stretch>
            <a:fillRect/>
          </a:stretch>
        </p:blipFill>
        <p:spPr>
          <a:xfrm>
            <a:off x="8331200" y="2120900"/>
            <a:ext cx="3441700" cy="4178300"/>
          </a:xfrm>
          <a:prstGeom prst="rect">
            <a:avLst/>
          </a:prstGeom>
          <a:noFill/>
          <a:ln w="25400" cap="flat" cmpd="sng">
            <a:noFill/>
            <a:prstDash val="solid"/>
            <a:round/>
          </a:ln>
        </p:spPr>
      </p:pic>
      <p:pic>
        <p:nvPicPr>
          <p:cNvPr id="11" name="Picture 11"/>
          <p:cNvPicPr>
            <a:picLocks noChangeAspect="1"/>
          </p:cNvPicPr>
          <p:nvPr/>
        </p:nvPicPr>
        <p:blipFill>
          <a:blip r:embed="rId11"/>
          <a:srcRect t="86704"/>
          <a:stretch>
            <a:fillRect/>
          </a:stretch>
        </p:blipFill>
        <p:spPr>
          <a:xfrm>
            <a:off x="-50800" y="4787900"/>
            <a:ext cx="12192000" cy="2070100"/>
          </a:xfrm>
          <a:prstGeom prst="rect">
            <a:avLst/>
          </a:prstGeom>
          <a:noFill/>
          <a:ln w="25400" cap="flat" cmpd="sng">
            <a:noFill/>
            <a:prstDash val="solid"/>
            <a:round/>
          </a:ln>
        </p:spPr>
      </p:pic>
      <p:sp>
        <p:nvSpPr>
          <p:cNvPr id="12" name="AutoShape 12"/>
          <p:cNvSpPr/>
          <p:nvPr/>
        </p:nvSpPr>
        <p:spPr>
          <a:xfrm>
            <a:off x="1028700" y="4572000"/>
            <a:ext cx="5727700" cy="1109345"/>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25000"/>
              </a:lnSpc>
              <a:defRPr/>
            </a:pPr>
            <a:r>
              <a:rPr lang="en-US" sz="1800">
                <a:solidFill>
                  <a:srgbClr val="F0F0F0"/>
                </a:solidFill>
                <a:latin typeface="微软雅黑" panose="020B0503020204020204" charset="-122"/>
                <a:ea typeface="微软雅黑" panose="020B0503020204020204" charset="-122"/>
                <a:cs typeface="微软雅黑" panose="020B0503020204020204" charset="-122"/>
                <a:sym typeface="微软雅黑" panose="020B0503020204020204" charset="-122"/>
              </a:rPr>
              <a:t>本项目致力于构建一个高效、智能的数字化图书管理生态系统，旨在优化图书流转效率，提升读者借阅体验，实现图书馆资源的现代化管理。</a:t>
            </a:r>
            <a:endParaRPr lang="en-US" sz="1800" b="0"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1130300" y="2451100"/>
            <a:ext cx="5549900" cy="11049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ctr">
              <a:lnSpc>
                <a:spcPct val="100000"/>
              </a:lnSpc>
              <a:defRPr/>
            </a:pPr>
            <a:r>
              <a:rPr lang="en-US" sz="5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《图书管理系统》</a:t>
            </a:r>
            <a:endParaRPr lang="en-US" sz="1100"/>
          </a:p>
        </p:txBody>
      </p:sp>
      <p:sp>
        <p:nvSpPr>
          <p:cNvPr id="14" name="AutoShape 14"/>
          <p:cNvSpPr/>
          <p:nvPr/>
        </p:nvSpPr>
        <p:spPr>
          <a:xfrm>
            <a:off x="1041400" y="3505200"/>
            <a:ext cx="5727700" cy="8255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32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魔法蓝图：</a:t>
            </a:r>
            <a:r>
              <a:rPr lang="en-US" sz="3200">
                <a:solidFill>
                  <a:srgbClr val="FFFFFF">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系统怎么搭起来的？</a:t>
            </a:r>
            <a:endParaRPr lang="en-US" sz="1100"/>
          </a:p>
        </p:txBody>
      </p:sp>
      <p:sp>
        <p:nvSpPr>
          <p:cNvPr id="15" name="AutoShape 15"/>
          <p:cNvSpPr/>
          <p:nvPr/>
        </p:nvSpPr>
        <p:spPr>
          <a:xfrm>
            <a:off x="2463800" y="1511300"/>
            <a:ext cx="1485900" cy="6477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PART</a:t>
            </a:r>
            <a:endParaRPr lang="en-US" sz="1100"/>
          </a:p>
        </p:txBody>
      </p:sp>
      <p:sp>
        <p:nvSpPr>
          <p:cNvPr id="16" name="AutoShape 16"/>
          <p:cNvSpPr/>
          <p:nvPr/>
        </p:nvSpPr>
        <p:spPr>
          <a:xfrm>
            <a:off x="4140200" y="15621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102100" y="15367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8" name="AutoShape 8"/>
          <p:cNvSpPr/>
          <p:nvPr/>
        </p:nvSpPr>
        <p:spPr>
          <a:xfrm>
            <a:off x="1778000" y="647700"/>
            <a:ext cx="762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系统技术架构设计</a:t>
            </a:r>
            <a:endParaRPr lang="en-US" sz="1100"/>
          </a:p>
        </p:txBody>
      </p:sp>
      <p:sp>
        <p:nvSpPr>
          <p:cNvPr id="9" name="AutoShape 9"/>
          <p:cNvSpPr/>
          <p:nvPr/>
        </p:nvSpPr>
        <p:spPr>
          <a:xfrm>
            <a:off x="1028700" y="1651000"/>
            <a:ext cx="4826000" cy="4318000"/>
          </a:xfrm>
          <a:prstGeom prst="roundRect">
            <a:avLst>
              <a:gd name="adj" fmla="val 2941"/>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1651000"/>
            <a:ext cx="4826000" cy="76200"/>
          </a:xfrm>
          <a:prstGeom prst="roundRect">
            <a:avLst>
              <a:gd name="adj" fmla="val 0"/>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97000" y="1968500"/>
            <a:ext cx="508000" cy="508000"/>
          </a:xfrm>
          <a:prstGeom prst="rect">
            <a:avLst/>
          </a:prstGeom>
        </p:spPr>
      </p:pic>
      <p:sp>
        <p:nvSpPr>
          <p:cNvPr id="12" name="AutoShape 12"/>
          <p:cNvSpPr/>
          <p:nvPr/>
        </p:nvSpPr>
        <p:spPr>
          <a:xfrm>
            <a:off x="2032000" y="2006600"/>
            <a:ext cx="3556000" cy="4445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前端技术栈</a:t>
            </a:r>
            <a:r>
              <a:rPr lang="zh-CN" alt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表现层）</a:t>
            </a:r>
            <a:endParaRPr lang="en-US" sz="1100"/>
          </a:p>
        </p:txBody>
      </p:sp>
      <p:sp>
        <p:nvSpPr>
          <p:cNvPr id="13" name="AutoShape 13"/>
          <p:cNvSpPr/>
          <p:nvPr/>
        </p:nvSpPr>
        <p:spPr>
          <a:xfrm>
            <a:off x="1331595" y="2527300"/>
            <a:ext cx="4318000" cy="3442335"/>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25000"/>
              </a:lnSpc>
              <a:defRPr/>
            </a:pP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如同魔法世界的“外观魔咒”，我们致力于打造极致的用户交互体验。</a:t>
            </a:r>
            <a:endParaRPr lang="en-US" sz="1800"/>
          </a:p>
          <a:p>
            <a:pPr indent="0" algn="l">
              <a:lnSpc>
                <a:spcPct val="125000"/>
              </a:lnSpc>
            </a:pP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核心技术栈：</a:t>
            </a:r>
            <a:endPar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用 HTML5+ CSS+ 原生JavaScript 构建基础骨架，无额外前端框架与构建工具，使用  Fetch API  实现前后端数据交互， localStorage  存储用户登录状态。</a:t>
            </a:r>
            <a:endParaRPr lang="en-US"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设计理念：</a:t>
            </a:r>
            <a:endPar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遵循“简洁直观”的设计原则，利用CSS3的Flexbox布局、渐变与阴影特性，实现清晰的页面层级；所有交互逻辑由原生JS实现，确保操作响应快速、界面风格统一，降低用户学习成本。</a:t>
            </a:r>
            <a:endPar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1651000"/>
            <a:ext cx="4826000" cy="4318000"/>
          </a:xfrm>
          <a:prstGeom prst="roundRect">
            <a:avLst>
              <a:gd name="adj" fmla="val 2941"/>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1651000"/>
            <a:ext cx="482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1968500"/>
            <a:ext cx="508000" cy="508000"/>
          </a:xfrm>
          <a:prstGeom prst="rect">
            <a:avLst/>
          </a:prstGeom>
        </p:spPr>
      </p:pic>
      <p:sp>
        <p:nvSpPr>
          <p:cNvPr id="17" name="AutoShape 17"/>
          <p:cNvSpPr/>
          <p:nvPr/>
        </p:nvSpPr>
        <p:spPr>
          <a:xfrm>
            <a:off x="7239000" y="2006600"/>
            <a:ext cx="3556000" cy="4445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后端技术栈</a:t>
            </a:r>
            <a:r>
              <a:rPr lang="zh-CN" alt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（逻辑层</a:t>
            </a:r>
            <a:r>
              <a:rPr lang="zh-CN" alt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477000" y="2667000"/>
            <a:ext cx="4318000" cy="3302635"/>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25000"/>
              </a:lnSpc>
              <a:defRPr/>
            </a:pP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如同强大的“核心魔法引擎”，后端架构支撑着整个系统的稳定运行与复杂业务处理。</a:t>
            </a:r>
            <a:endParaRPr lang="en-US" sz="1100"/>
          </a:p>
          <a:p>
            <a:pPr indent="0" algn="l">
              <a:lnSpc>
                <a:spcPct val="125000"/>
              </a:lnSpc>
            </a:pPr>
            <a:endPar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核心架构：</a:t>
            </a:r>
            <a:endParaRPr lang="en-US"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基于Java Servlet技术栈开发，使用Jetty作为服务器，处理用户认证、图书管理、借阅业务等核心请求，并通过Jackson实现JSON数据的处理。</a:t>
            </a:r>
            <a:endParaRPr lang="en-US" b="0" i="0" u="none" strike="noStrike">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 性能优势：</a:t>
            </a:r>
            <a:endParaRPr lang="en-US"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前后端通过RESTful API通信，确保高内聚低耦合，保障数据的一致性与安全性。</a:t>
            </a:r>
            <a:endPar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120650" y="8763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2146300" y="87630"/>
            <a:ext cx="12192000" cy="6858000"/>
          </a:xfrm>
          <a:prstGeom prst="rect">
            <a:avLst/>
          </a:prstGeom>
          <a:noFill/>
          <a:ln w="25400" cap="flat" cmpd="sng">
            <a:noFill/>
            <a:prstDash val="solid"/>
            <a:round/>
          </a:ln>
        </p:spPr>
      </p:pic>
      <p:cxnSp>
        <p:nvCxnSpPr>
          <p:cNvPr id="6" name="Connector 6"/>
          <p:cNvCxnSpPr/>
          <p:nvPr/>
        </p:nvCxnSpPr>
        <p:spPr>
          <a:xfrm rot="9">
            <a:off x="1346200" y="1930401"/>
            <a:ext cx="724011" cy="12700"/>
          </a:xfrm>
          <a:prstGeom prst="line">
            <a:avLst/>
          </a:prstGeom>
          <a:solidFill>
            <a:srgbClr val="DEE0E3">
              <a:alpha val="100000"/>
            </a:srgbClr>
          </a:solidFill>
          <a:ln w="12700" cap="flat" cmpd="sng">
            <a:solidFill>
              <a:srgbClr val="808080">
                <a:alpha val="100000"/>
              </a:srgbClr>
            </a:solidFill>
            <a:prstDash val="dash"/>
            <a:miter lim="10000000"/>
            <a:headEnd type="none" w="med" len="med"/>
            <a:tailEnd type="oval" w="med" len="med"/>
          </a:ln>
        </p:spPr>
      </p:cxnSp>
      <p:cxnSp>
        <p:nvCxnSpPr>
          <p:cNvPr id="7" name="Connector 7"/>
          <p:cNvCxnSpPr/>
          <p:nvPr/>
        </p:nvCxnSpPr>
        <p:spPr>
          <a:xfrm rot="9">
            <a:off x="1346200" y="2794001"/>
            <a:ext cx="724011" cy="12700"/>
          </a:xfrm>
          <a:prstGeom prst="line">
            <a:avLst/>
          </a:prstGeom>
          <a:solidFill>
            <a:srgbClr val="DEE0E3">
              <a:alpha val="100000"/>
            </a:srgbClr>
          </a:solidFill>
          <a:ln w="12700" cap="flat" cmpd="sng">
            <a:solidFill>
              <a:srgbClr val="808080">
                <a:alpha val="100000"/>
              </a:srgbClr>
            </a:solidFill>
            <a:prstDash val="dash"/>
            <a:miter lim="10000000"/>
            <a:headEnd type="none" w="med" len="med"/>
            <a:tailEnd type="oval" w="med" len="med"/>
          </a:ln>
        </p:spPr>
      </p:cxnSp>
      <p:cxnSp>
        <p:nvCxnSpPr>
          <p:cNvPr id="8" name="Connector 8"/>
          <p:cNvCxnSpPr/>
          <p:nvPr/>
        </p:nvCxnSpPr>
        <p:spPr>
          <a:xfrm rot="9">
            <a:off x="1346200" y="3657601"/>
            <a:ext cx="724011" cy="12700"/>
          </a:xfrm>
          <a:prstGeom prst="line">
            <a:avLst/>
          </a:prstGeom>
          <a:solidFill>
            <a:srgbClr val="DEE0E3">
              <a:alpha val="100000"/>
            </a:srgbClr>
          </a:solidFill>
          <a:ln w="12700" cap="flat" cmpd="sng">
            <a:solidFill>
              <a:srgbClr val="808080">
                <a:alpha val="100000"/>
              </a:srgbClr>
            </a:solidFill>
            <a:prstDash val="dash"/>
            <a:miter lim="10000000"/>
            <a:headEnd type="none" w="med" len="med"/>
            <a:tailEnd type="oval" w="med" len="med"/>
          </a:ln>
        </p:spPr>
      </p:cxnSp>
      <p:cxnSp>
        <p:nvCxnSpPr>
          <p:cNvPr id="9" name="Connector 9"/>
          <p:cNvCxnSpPr/>
          <p:nvPr/>
        </p:nvCxnSpPr>
        <p:spPr>
          <a:xfrm rot="9">
            <a:off x="1346200" y="4521201"/>
            <a:ext cx="724011" cy="12700"/>
          </a:xfrm>
          <a:prstGeom prst="line">
            <a:avLst/>
          </a:prstGeom>
          <a:solidFill>
            <a:srgbClr val="DEE0E3">
              <a:alpha val="100000"/>
            </a:srgbClr>
          </a:solidFill>
          <a:ln w="12700" cap="flat" cmpd="sng">
            <a:solidFill>
              <a:srgbClr val="808080">
                <a:alpha val="100000"/>
              </a:srgbClr>
            </a:solidFill>
            <a:prstDash val="dash"/>
            <a:miter lim="10000000"/>
            <a:headEnd type="none" w="med" len="med"/>
            <a:tailEnd type="oval" w="med" len="med"/>
          </a:ln>
        </p:spPr>
      </p:cxnSp>
      <p:sp>
        <p:nvSpPr>
          <p:cNvPr id="10" name="AutoShape 10"/>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12" name="AutoShape 12"/>
          <p:cNvSpPr/>
          <p:nvPr/>
        </p:nvSpPr>
        <p:spPr>
          <a:xfrm>
            <a:off x="1778000" y="647700"/>
            <a:ext cx="762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系统技术架构设计</a:t>
            </a:r>
            <a:endParaRPr lang="en-US" sz="1100"/>
          </a:p>
        </p:txBody>
      </p:sp>
      <p:sp>
        <p:nvSpPr>
          <p:cNvPr id="13" name="AutoShape 13"/>
          <p:cNvSpPr/>
          <p:nvPr/>
        </p:nvSpPr>
        <p:spPr>
          <a:xfrm>
            <a:off x="2146300" y="1727200"/>
            <a:ext cx="9144000" cy="762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nvSpPr>
        <p:spPr>
          <a:xfrm>
            <a:off x="2146300" y="2641600"/>
            <a:ext cx="9144000" cy="762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nvSpPr>
        <p:spPr>
          <a:xfrm>
            <a:off x="2146300" y="3556000"/>
            <a:ext cx="9144000" cy="762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16"/>
          <p:cNvSpPr/>
          <p:nvPr/>
        </p:nvSpPr>
        <p:spPr>
          <a:xfrm>
            <a:off x="2146300" y="4470400"/>
            <a:ext cx="9144000" cy="762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AutoShape 17"/>
          <p:cNvSpPr/>
          <p:nvPr/>
        </p:nvSpPr>
        <p:spPr>
          <a:xfrm rot="5400000">
            <a:off x="927100" y="5715000"/>
            <a:ext cx="723900" cy="254000"/>
          </a:xfrm>
          <a:prstGeom prst="homePlate">
            <a:avLst>
              <a:gd name="adj" fmla="val 281623"/>
            </a:avLst>
          </a:prstGeom>
          <a:gradFill rotWithShape="1">
            <a:gsLst>
              <a:gs pos="0">
                <a:srgbClr val="E1C9AF">
                  <a:alpha val="100000"/>
                </a:srgbClr>
              </a:gs>
              <a:gs pos="100000">
                <a:srgbClr val="B88954">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5700" y="2311400"/>
            <a:ext cx="258662" cy="3355058"/>
          </a:xfrm>
          <a:custGeom>
            <a:avLst/>
            <a:gdLst/>
            <a:ahLst/>
            <a:cxnLst/>
            <a:rect l="l" t="t" r="r" b="b"/>
            <a:pathLst>
              <a:path w="258662" h="3355058">
                <a:moveTo>
                  <a:pt x="0" y="0"/>
                </a:moveTo>
                <a:lnTo>
                  <a:pt x="257698" y="0"/>
                </a:lnTo>
                <a:lnTo>
                  <a:pt x="258662" y="3176920"/>
                </a:lnTo>
                <a:cubicBezTo>
                  <a:pt x="254913" y="3246627"/>
                  <a:pt x="244417" y="3271973"/>
                  <a:pt x="231671" y="3284648"/>
                </a:cubicBezTo>
                <a:cubicBezTo>
                  <a:pt x="215552" y="3260004"/>
                  <a:pt x="223799" y="3210364"/>
                  <a:pt x="211428" y="3221278"/>
                </a:cubicBezTo>
                <a:cubicBezTo>
                  <a:pt x="199057" y="3232191"/>
                  <a:pt x="176191" y="3345200"/>
                  <a:pt x="157447" y="3350129"/>
                </a:cubicBezTo>
                <a:cubicBezTo>
                  <a:pt x="138703" y="3355058"/>
                  <a:pt x="116210" y="3254724"/>
                  <a:pt x="98967" y="3250851"/>
                </a:cubicBezTo>
                <a:cubicBezTo>
                  <a:pt x="81723" y="3246979"/>
                  <a:pt x="70477" y="3334991"/>
                  <a:pt x="53983" y="3326893"/>
                </a:cubicBezTo>
                <a:cubicBezTo>
                  <a:pt x="26991" y="3304363"/>
                  <a:pt x="8999" y="3248035"/>
                  <a:pt x="1" y="3202268"/>
                </a:cubicBezTo>
                <a:cubicBezTo>
                  <a:pt x="1" y="2134845"/>
                  <a:pt x="0" y="1067422"/>
                  <a:pt x="0" y="0"/>
                </a:cubicBezTo>
                <a:close/>
              </a:path>
            </a:pathLst>
          </a:custGeom>
          <a:gradFill rotWithShape="1">
            <a:gsLst>
              <a:gs pos="0">
                <a:srgbClr val="5A6378">
                  <a:alpha val="100000"/>
                </a:srgbClr>
              </a:gs>
              <a:gs pos="34000">
                <a:srgbClr val="444A5A">
                  <a:alpha val="100000"/>
                </a:srgbClr>
              </a:gs>
              <a:gs pos="38000">
                <a:srgbClr val="5A6378">
                  <a:alpha val="100000"/>
                </a:srgbClr>
              </a:gs>
              <a:gs pos="82000">
                <a:srgbClr val="5A6378">
                  <a:alpha val="100000"/>
                </a:srgbClr>
              </a:gs>
              <a:gs pos="83000">
                <a:srgbClr val="5A6378">
                  <a:alpha val="100000"/>
                </a:srgbClr>
              </a:gs>
              <a:gs pos="100000">
                <a:srgbClr val="5A6378">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155700" y="1790700"/>
            <a:ext cx="254000" cy="520700"/>
          </a:xfrm>
          <a:prstGeom prst="roundRect">
            <a:avLst>
              <a:gd name="adj" fmla="val 0"/>
            </a:avLst>
          </a:prstGeom>
          <a:gradFill rotWithShape="1">
            <a:gsLst>
              <a:gs pos="0">
                <a:srgbClr val="BFBFBF">
                  <a:alpha val="100000"/>
                </a:srgbClr>
              </a:gs>
              <a:gs pos="27000">
                <a:srgbClr val="FFFFFF">
                  <a:alpha val="100000"/>
                </a:srgbClr>
              </a:gs>
              <a:gs pos="100000">
                <a:srgbClr val="808080">
                  <a:alpha val="10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181100" y="1600200"/>
            <a:ext cx="203200" cy="177800"/>
          </a:xfrm>
          <a:prstGeom prst="roundRect">
            <a:avLst>
              <a:gd name="adj" fmla="val 0"/>
            </a:avLst>
          </a:prstGeom>
          <a:solidFill>
            <a:srgbClr val="5A63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rot="5400000">
            <a:off x="1181100" y="6070600"/>
            <a:ext cx="202782" cy="69096"/>
          </a:xfrm>
          <a:custGeom>
            <a:avLst/>
            <a:gdLst/>
            <a:ahLst/>
            <a:cxnLst/>
            <a:rect l="l" t="t" r="r" b="b"/>
            <a:pathLst>
              <a:path w="202782" h="69096">
                <a:moveTo>
                  <a:pt x="0" y="34548"/>
                </a:moveTo>
                <a:cubicBezTo>
                  <a:pt x="1361" y="14987"/>
                  <a:pt x="11462" y="4478"/>
                  <a:pt x="24782" y="0"/>
                </a:cubicBezTo>
                <a:lnTo>
                  <a:pt x="202782" y="34548"/>
                </a:lnTo>
                <a:lnTo>
                  <a:pt x="24782" y="69096"/>
                </a:lnTo>
                <a:cubicBezTo>
                  <a:pt x="10083" y="63613"/>
                  <a:pt x="902" y="51594"/>
                  <a:pt x="0" y="34548"/>
                </a:cubicBezTo>
                <a:close/>
              </a:path>
            </a:pathLst>
          </a:custGeom>
          <a:solidFill>
            <a:srgbClr val="4C504C">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22" name="Connector 22"/>
          <p:cNvCxnSpPr/>
          <p:nvPr/>
        </p:nvCxnSpPr>
        <p:spPr>
          <a:xfrm rot="213">
            <a:off x="1155700" y="18542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3" name="Connector 23"/>
          <p:cNvCxnSpPr/>
          <p:nvPr/>
        </p:nvCxnSpPr>
        <p:spPr>
          <a:xfrm rot="213">
            <a:off x="1155700" y="19177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4" name="Connector 24"/>
          <p:cNvCxnSpPr/>
          <p:nvPr/>
        </p:nvCxnSpPr>
        <p:spPr>
          <a:xfrm rot="213">
            <a:off x="1155700" y="19812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5" name="Connector 25"/>
          <p:cNvCxnSpPr/>
          <p:nvPr/>
        </p:nvCxnSpPr>
        <p:spPr>
          <a:xfrm rot="213">
            <a:off x="1155700" y="20447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6" name="Connector 26"/>
          <p:cNvCxnSpPr/>
          <p:nvPr/>
        </p:nvCxnSpPr>
        <p:spPr>
          <a:xfrm rot="213">
            <a:off x="1155700" y="21209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7" name="Connector 27"/>
          <p:cNvCxnSpPr/>
          <p:nvPr/>
        </p:nvCxnSpPr>
        <p:spPr>
          <a:xfrm rot="213">
            <a:off x="1155700" y="21844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28" name="Connector 28"/>
          <p:cNvCxnSpPr/>
          <p:nvPr/>
        </p:nvCxnSpPr>
        <p:spPr>
          <a:xfrm rot="213">
            <a:off x="1155700" y="2247908"/>
            <a:ext cx="254317"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sp>
        <p:nvSpPr>
          <p:cNvPr id="29" name="AutoShape 9"/>
          <p:cNvSpPr/>
          <p:nvPr/>
        </p:nvSpPr>
        <p:spPr>
          <a:xfrm>
            <a:off x="4396105" y="1581785"/>
            <a:ext cx="4826000" cy="4131945"/>
          </a:xfrm>
          <a:prstGeom prst="roundRect">
            <a:avLst>
              <a:gd name="adj" fmla="val 2941"/>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p>
            <a:pPr algn="ctr">
              <a:defRPr/>
            </a:pPr>
          </a:p>
        </p:txBody>
      </p:sp>
      <p:pic>
        <p:nvPicPr>
          <p:cNvPr id="30"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24705" y="1727200"/>
            <a:ext cx="508000" cy="508000"/>
          </a:xfrm>
          <a:prstGeom prst="rect">
            <a:avLst/>
          </a:prstGeom>
        </p:spPr>
      </p:pic>
      <p:sp>
        <p:nvSpPr>
          <p:cNvPr id="31" name="文本框 30"/>
          <p:cNvSpPr txBox="1"/>
          <p:nvPr/>
        </p:nvSpPr>
        <p:spPr>
          <a:xfrm>
            <a:off x="5461000" y="1778000"/>
            <a:ext cx="3453130" cy="475615"/>
          </a:xfrm>
          <a:prstGeom prst="rect">
            <a:avLst/>
          </a:prstGeom>
          <a:noFill/>
        </p:spPr>
        <p:txBody>
          <a:bodyPr wrap="square" rtlCol="0">
            <a:spAutoFit/>
          </a:bodyPr>
          <a:p>
            <a:pPr indent="0" algn="l">
              <a:lnSpc>
                <a:spcPct val="125000"/>
              </a:lnSpc>
              <a:defRPr/>
            </a:pPr>
            <a:r>
              <a:rPr lang="zh-CN" altLang="en-US" sz="20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数据访问库（数据访问层</a:t>
            </a:r>
            <a:r>
              <a:rPr lang="zh-CN" altLang="en-US" sz="20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000"/>
          </a:p>
        </p:txBody>
      </p:sp>
      <p:sp>
        <p:nvSpPr>
          <p:cNvPr id="33" name="AutoShape 10"/>
          <p:cNvSpPr/>
          <p:nvPr/>
        </p:nvSpPr>
        <p:spPr>
          <a:xfrm>
            <a:off x="4396105" y="1505585"/>
            <a:ext cx="4826000" cy="76200"/>
          </a:xfrm>
          <a:prstGeom prst="roundRect">
            <a:avLst>
              <a:gd name="adj" fmla="val 0"/>
            </a:avLst>
          </a:prstGeom>
          <a:solidFill>
            <a:srgbClr val="6A529C">
              <a:alpha val="100000"/>
            </a:srgbClr>
          </a:solidFill>
          <a:ln w="25400" cap="flat" cmpd="sng">
            <a:noFill/>
            <a:prstDash val="solid"/>
            <a:round/>
          </a:ln>
        </p:spPr>
        <p:txBody>
          <a:bodyPr vert="horz" wrap="square" lIns="63500" tIns="63500" rIns="63500" bIns="63500" rtlCol="0" anchor="ctr"/>
          <a:p>
            <a:pPr algn="ctr">
              <a:defRPr/>
            </a:pPr>
          </a:p>
        </p:txBody>
      </p:sp>
      <p:sp>
        <p:nvSpPr>
          <p:cNvPr id="36" name="AutoShape 13"/>
          <p:cNvSpPr/>
          <p:nvPr/>
        </p:nvSpPr>
        <p:spPr>
          <a:xfrm>
            <a:off x="4520565" y="2311400"/>
            <a:ext cx="4701540" cy="3355975"/>
          </a:xfrm>
          <a:prstGeom prst="rect">
            <a:avLst/>
          </a:prstGeom>
          <a:noFill/>
          <a:ln w="12700" cap="flat" cmpd="sng">
            <a:noFill/>
            <a:prstDash val="solid"/>
            <a:round/>
          </a:ln>
        </p:spPr>
        <p:txBody>
          <a:bodyPr vert="horz" wrap="square" lIns="127000" tIns="127000" rIns="127000" bIns="127000" rtlCol="0" anchor="t" anchorCtr="0"/>
          <a:p>
            <a:pPr indent="0" algn="l">
              <a:lnSpc>
                <a:spcPct val="125000"/>
              </a:lnSpc>
              <a:defRPr/>
            </a:pP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如同魔法世</a:t>
            </a:r>
            <a:r>
              <a:rPr lang="zh-CN" alt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界的</a:t>
            </a: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“魔法仓库”</a:t>
            </a:r>
            <a:endPar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核心技术栈：</a:t>
            </a:r>
            <a:endPar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以MySQL为核心，存储着用户、图书、借阅等所有关键数据。</a:t>
            </a:r>
            <a:endParaRPr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通过外键约束，它就像仓库里的魔法封印，保证数据的安全与关联，为整个系统的稳定运行提供坚实的数据支撑。</a:t>
            </a:r>
            <a:endParaRPr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endPar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设计理念：</a:t>
            </a:r>
            <a:endParaRPr lang="en-US"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通过合理的字段设计与外键关联，确保数据的完整性与一致性。它为系统提供了可靠的数据存储与查询能力，支撑着图书管理、借阅业务等所有核心功能的正常运转。</a:t>
            </a:r>
            <a:endParaRPr lang="en-US"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952500" y="111760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444500"/>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27200"/>
            <a:ext cx="4787900" cy="10375900"/>
          </a:xfrm>
          <a:prstGeom prst="rect">
            <a:avLst/>
          </a:prstGeom>
          <a:noFill/>
          <a:ln w="25400" cap="flat" cmpd="sng">
            <a:noFill/>
            <a:prstDash val="solid"/>
            <a:round/>
          </a:ln>
        </p:spPr>
      </p:pic>
      <p:pic>
        <p:nvPicPr>
          <p:cNvPr id="9" name="Picture 9"/>
          <p:cNvPicPr>
            <a:picLocks noChangeAspect="1"/>
          </p:cNvPicPr>
          <p:nvPr/>
        </p:nvPicPr>
        <p:blipFill>
          <a:blip r:embed="rId9"/>
          <a:srcRect/>
          <a:stretch>
            <a:fillRect/>
          </a:stretch>
        </p:blipFill>
        <p:spPr>
          <a:xfrm>
            <a:off x="7162800" y="50800"/>
            <a:ext cx="4356100" cy="6807200"/>
          </a:xfrm>
          <a:prstGeom prst="rect">
            <a:avLst/>
          </a:prstGeom>
          <a:noFill/>
          <a:ln w="25400" cap="flat" cmpd="sng">
            <a:noFill/>
            <a:prstDash val="solid"/>
            <a:round/>
          </a:ln>
        </p:spPr>
      </p:pic>
      <p:pic>
        <p:nvPicPr>
          <p:cNvPr id="10" name="Picture 10"/>
          <p:cNvPicPr>
            <a:picLocks noChangeAspect="1"/>
          </p:cNvPicPr>
          <p:nvPr/>
        </p:nvPicPr>
        <p:blipFill>
          <a:blip r:embed="rId10"/>
          <a:srcRect/>
          <a:stretch>
            <a:fillRect/>
          </a:stretch>
        </p:blipFill>
        <p:spPr>
          <a:xfrm>
            <a:off x="8331200" y="2120900"/>
            <a:ext cx="3441700" cy="4178300"/>
          </a:xfrm>
          <a:prstGeom prst="rect">
            <a:avLst/>
          </a:prstGeom>
          <a:noFill/>
          <a:ln w="25400" cap="flat" cmpd="sng">
            <a:noFill/>
            <a:prstDash val="solid"/>
            <a:round/>
          </a:ln>
        </p:spPr>
      </p:pic>
      <p:pic>
        <p:nvPicPr>
          <p:cNvPr id="11" name="Picture 11"/>
          <p:cNvPicPr>
            <a:picLocks noChangeAspect="1"/>
          </p:cNvPicPr>
          <p:nvPr/>
        </p:nvPicPr>
        <p:blipFill>
          <a:blip r:embed="rId11"/>
          <a:srcRect t="86704"/>
          <a:stretch>
            <a:fillRect/>
          </a:stretch>
        </p:blipFill>
        <p:spPr>
          <a:xfrm>
            <a:off x="-50800" y="4787900"/>
            <a:ext cx="12192000" cy="2070100"/>
          </a:xfrm>
          <a:prstGeom prst="rect">
            <a:avLst/>
          </a:prstGeom>
          <a:noFill/>
          <a:ln w="25400" cap="flat" cmpd="sng">
            <a:noFill/>
            <a:prstDash val="solid"/>
            <a:round/>
          </a:ln>
        </p:spPr>
      </p:pic>
      <p:sp>
        <p:nvSpPr>
          <p:cNvPr id="12" name="AutoShape 12"/>
          <p:cNvSpPr/>
          <p:nvPr/>
        </p:nvSpPr>
        <p:spPr>
          <a:xfrm>
            <a:off x="1028700" y="4483100"/>
            <a:ext cx="5727700" cy="111506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25000"/>
              </a:lnSpc>
              <a:defRPr/>
            </a:pPr>
            <a:r>
              <a:rPr lang="en-US" sz="1800">
                <a:solidFill>
                  <a:srgbClr val="E6E6E6">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本章重点展示图书管理系统的核心功能模块，阐述开发过程中遇到的技术难点，并分享我们的解决方案与实现成果。</a:t>
            </a:r>
            <a:endParaRPr lang="en-US" sz="1800"/>
          </a:p>
        </p:txBody>
      </p:sp>
      <p:sp>
        <p:nvSpPr>
          <p:cNvPr id="13" name="AutoShape 13"/>
          <p:cNvSpPr/>
          <p:nvPr/>
        </p:nvSpPr>
        <p:spPr>
          <a:xfrm>
            <a:off x="1130300" y="2451100"/>
            <a:ext cx="7620000" cy="11049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ctr">
              <a:lnSpc>
                <a:spcPct val="100000"/>
              </a:lnSpc>
              <a:defRPr/>
            </a:pPr>
            <a:r>
              <a:rPr lang="en-US" sz="6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《图书管理系统》</a:t>
            </a:r>
            <a:endParaRPr lang="en-US" sz="1100"/>
          </a:p>
        </p:txBody>
      </p:sp>
      <p:sp>
        <p:nvSpPr>
          <p:cNvPr id="14" name="AutoShape 14"/>
          <p:cNvSpPr/>
          <p:nvPr/>
        </p:nvSpPr>
        <p:spPr>
          <a:xfrm>
            <a:off x="876300" y="3505200"/>
            <a:ext cx="6350000" cy="825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25000"/>
              </a:lnSpc>
              <a:defRPr/>
            </a:pPr>
            <a:r>
              <a:rPr lang="en-US" sz="32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核心咒语：</a:t>
            </a:r>
            <a:r>
              <a:rPr lang="en-US" sz="3200">
                <a:solidFill>
                  <a:srgbClr val="FFFFFF">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系统怎么连起来的？</a:t>
            </a:r>
            <a:endParaRPr lang="en-US" sz="1100"/>
          </a:p>
        </p:txBody>
      </p:sp>
      <p:sp>
        <p:nvSpPr>
          <p:cNvPr id="15" name="AutoShape 15"/>
          <p:cNvSpPr/>
          <p:nvPr/>
        </p:nvSpPr>
        <p:spPr>
          <a:xfrm>
            <a:off x="2463800" y="1511300"/>
            <a:ext cx="1485900" cy="6477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PART</a:t>
            </a:r>
            <a:endParaRPr lang="en-US" sz="1100"/>
          </a:p>
        </p:txBody>
      </p:sp>
      <p:sp>
        <p:nvSpPr>
          <p:cNvPr id="16" name="AutoShape 16"/>
          <p:cNvSpPr/>
          <p:nvPr/>
        </p:nvSpPr>
        <p:spPr>
          <a:xfrm>
            <a:off x="4140200" y="15621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102100" y="15367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508635" y="107315"/>
            <a:ext cx="13540105"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8" name="AutoShape 8"/>
          <p:cNvSpPr/>
          <p:nvPr/>
        </p:nvSpPr>
        <p:spPr>
          <a:xfrm>
            <a:off x="1778000" y="647700"/>
            <a:ext cx="508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功能实现</a:t>
            </a:r>
            <a:endParaRPr lang="zh-CN" altLang="en-US" sz="2800" b="0"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9" name="AutoShape 9"/>
          <p:cNvSpPr/>
          <p:nvPr/>
        </p:nvSpPr>
        <p:spPr>
          <a:xfrm>
            <a:off x="1901825" y="1778000"/>
            <a:ext cx="1016000" cy="1016000"/>
          </a:xfrm>
          <a:prstGeom prst="ellipse">
            <a:avLst/>
          </a:prstGeom>
          <a:solidFill>
            <a:srgbClr val="F2F2F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05025" y="1981200"/>
            <a:ext cx="609600" cy="609600"/>
          </a:xfrm>
          <a:prstGeom prst="rect">
            <a:avLst/>
          </a:prstGeom>
        </p:spPr>
      </p:pic>
      <p:sp>
        <p:nvSpPr>
          <p:cNvPr id="11" name="AutoShape 11"/>
          <p:cNvSpPr/>
          <p:nvPr/>
        </p:nvSpPr>
        <p:spPr>
          <a:xfrm>
            <a:off x="1904365" y="2981325"/>
            <a:ext cx="889635" cy="381000"/>
          </a:xfrm>
          <a:prstGeom prst="roundRect">
            <a:avLst>
              <a:gd name="adj" fmla="val 53333"/>
            </a:avLst>
          </a:prstGeom>
          <a:solidFill>
            <a:srgbClr val="6A529C">
              <a:alpha val="10000"/>
            </a:srgbClr>
          </a:solidFill>
          <a:ln w="25400" cap="flat" cmpd="sng">
            <a:noFill/>
            <a:prstDash val="solid"/>
            <a:round/>
          </a:ln>
        </p:spPr>
        <p:txBody>
          <a:bodyPr vert="horz" wrap="square" lIns="50800" tIns="25400" rIns="50800" bIns="25400" rtlCol="0" anchor="ctr" anchorCtr="0"/>
          <a:lstStyle/>
          <a:p>
            <a:pPr indent="0" algn="ctr">
              <a:lnSpc>
                <a:spcPct val="125000"/>
              </a:lnSpc>
              <a:defRPr/>
            </a:pPr>
            <a:r>
              <a:rPr lang="en-US" sz="14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01 模块</a:t>
            </a:r>
            <a:endParaRPr lang="en-US" sz="1100"/>
          </a:p>
        </p:txBody>
      </p:sp>
      <p:sp>
        <p:nvSpPr>
          <p:cNvPr id="12" name="AutoShape 12"/>
          <p:cNvSpPr/>
          <p:nvPr/>
        </p:nvSpPr>
        <p:spPr>
          <a:xfrm>
            <a:off x="889000" y="3519170"/>
            <a:ext cx="2921000" cy="22860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图书管理</a:t>
            </a:r>
            <a:endParaRPr lang="en-US" sz="1100"/>
          </a:p>
          <a:p>
            <a:pPr indent="0" algn="ctr">
              <a:lnSpc>
                <a:spcPct val="100000"/>
              </a:lnSpc>
            </a:pPr>
          </a:p>
          <a:p>
            <a:pPr indent="0" algn="just">
              <a:lnSpc>
                <a:spcPct val="117000"/>
              </a:lnSpc>
            </a:pPr>
            <a:r>
              <a:rPr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管理员可对图书进行增、删、改、查操作，维护馆藏信息。</a:t>
            </a:r>
            <a:endParaRPr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588000" y="1778000"/>
            <a:ext cx="1016000" cy="1016000"/>
          </a:xfrm>
          <a:prstGeom prst="ellipse">
            <a:avLst/>
          </a:prstGeom>
          <a:solidFill>
            <a:srgbClr val="F2F2F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91200" y="1981200"/>
            <a:ext cx="609600" cy="609600"/>
          </a:xfrm>
          <a:prstGeom prst="rect">
            <a:avLst/>
          </a:prstGeom>
        </p:spPr>
      </p:pic>
      <p:sp>
        <p:nvSpPr>
          <p:cNvPr id="15" name="AutoShape 15"/>
          <p:cNvSpPr/>
          <p:nvPr/>
        </p:nvSpPr>
        <p:spPr>
          <a:xfrm>
            <a:off x="5523230" y="2981325"/>
            <a:ext cx="1146175" cy="381000"/>
          </a:xfrm>
          <a:prstGeom prst="roundRect">
            <a:avLst>
              <a:gd name="adj" fmla="val 53333"/>
            </a:avLst>
          </a:prstGeom>
          <a:solidFill>
            <a:srgbClr val="6A529C">
              <a:alpha val="10000"/>
            </a:srgbClr>
          </a:solidFill>
          <a:ln w="25400" cap="flat" cmpd="sng">
            <a:noFill/>
            <a:prstDash val="solid"/>
            <a:round/>
          </a:ln>
        </p:spPr>
        <p:txBody>
          <a:bodyPr vert="horz" wrap="square" lIns="50800" tIns="25400" rIns="50800" bIns="25400" rtlCol="0" anchor="ctr" anchorCtr="0"/>
          <a:lstStyle/>
          <a:p>
            <a:pPr indent="0" algn="ctr">
              <a:lnSpc>
                <a:spcPct val="125000"/>
              </a:lnSpc>
              <a:defRPr/>
            </a:pPr>
            <a:r>
              <a:rPr lang="en-US" sz="14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02 模块</a:t>
            </a:r>
            <a:endParaRPr lang="en-US" sz="1100"/>
          </a:p>
        </p:txBody>
      </p:sp>
      <p:sp>
        <p:nvSpPr>
          <p:cNvPr id="16" name="AutoShape 16"/>
          <p:cNvSpPr/>
          <p:nvPr/>
        </p:nvSpPr>
        <p:spPr>
          <a:xfrm>
            <a:off x="4707890" y="3519170"/>
            <a:ext cx="2921000" cy="22860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indent="0" algn="ctr">
              <a:lnSpc>
                <a:spcPct val="108000"/>
              </a:lnSpc>
              <a:defRPr/>
            </a:pPr>
            <a:r>
              <a:rPr lang="zh-CN" alt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a:t>
            </a: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endParaRPr lang="en-US" sz="1100"/>
          </a:p>
          <a:p>
            <a:pPr indent="0" algn="ctr">
              <a:lnSpc>
                <a:spcPct val="100000"/>
              </a:lnSpc>
            </a:pPr>
          </a:p>
          <a:p>
            <a:pPr indent="0" algn="just">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管理员可管理用户账号，统筹库存与借阅数据。</a:t>
            </a:r>
            <a:endPar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288780" y="1778000"/>
            <a:ext cx="1016000" cy="1016000"/>
          </a:xfrm>
          <a:prstGeom prst="ellipse">
            <a:avLst/>
          </a:prstGeom>
          <a:solidFill>
            <a:srgbClr val="F2F2F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85935" y="1981200"/>
            <a:ext cx="609600" cy="609600"/>
          </a:xfrm>
          <a:prstGeom prst="rect">
            <a:avLst/>
          </a:prstGeom>
        </p:spPr>
      </p:pic>
      <p:sp>
        <p:nvSpPr>
          <p:cNvPr id="19" name="AutoShape 19"/>
          <p:cNvSpPr/>
          <p:nvPr/>
        </p:nvSpPr>
        <p:spPr>
          <a:xfrm>
            <a:off x="9288145" y="2981325"/>
            <a:ext cx="1016635" cy="381000"/>
          </a:xfrm>
          <a:prstGeom prst="roundRect">
            <a:avLst>
              <a:gd name="adj" fmla="val 53333"/>
            </a:avLst>
          </a:prstGeom>
          <a:solidFill>
            <a:srgbClr val="6A529C">
              <a:alpha val="10000"/>
            </a:srgbClr>
          </a:solidFill>
          <a:ln w="25400" cap="flat" cmpd="sng">
            <a:noFill/>
            <a:prstDash val="solid"/>
            <a:round/>
          </a:ln>
        </p:spPr>
        <p:txBody>
          <a:bodyPr vert="horz" wrap="square" lIns="50800" tIns="25400" rIns="50800" bIns="25400" rtlCol="0" anchor="ctr" anchorCtr="0"/>
          <a:lstStyle/>
          <a:p>
            <a:pPr indent="0" algn="ctr">
              <a:lnSpc>
                <a:spcPct val="125000"/>
              </a:lnSpc>
              <a:defRPr/>
            </a:pPr>
            <a:r>
              <a:rPr lang="en-US" sz="14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模块</a:t>
            </a:r>
            <a:endParaRPr lang="en-US" sz="1100"/>
          </a:p>
        </p:txBody>
      </p:sp>
      <p:sp>
        <p:nvSpPr>
          <p:cNvPr id="20" name="AutoShape 20"/>
          <p:cNvSpPr/>
          <p:nvPr/>
        </p:nvSpPr>
        <p:spPr>
          <a:xfrm>
            <a:off x="8335645" y="3519170"/>
            <a:ext cx="2921000" cy="140208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indent="0" algn="ctr">
              <a:lnSpc>
                <a:spcPct val="108000"/>
              </a:lnSpc>
              <a:defRPr/>
            </a:pPr>
            <a:r>
              <a:rPr lang="zh-CN" alt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a:t>
            </a: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endParaRPr lang="en-US" sz="1100"/>
          </a:p>
          <a:p>
            <a:pPr indent="0" algn="ctr">
              <a:lnSpc>
                <a:spcPct val="100000"/>
              </a:lnSpc>
            </a:pPr>
            <a:endParaRPr sz="1800"/>
          </a:p>
          <a:p>
            <a:pPr indent="0" algn="just">
              <a:lnSpc>
                <a:spcPct val="117000"/>
              </a:lnSpc>
            </a:pPr>
            <a:r>
              <a:rPr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用户可查询、借阅、续借图书，查看个人借阅记录。</a:t>
            </a:r>
            <a:endParaRPr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8" name="AutoShape 8"/>
          <p:cNvSpPr/>
          <p:nvPr/>
        </p:nvSpPr>
        <p:spPr>
          <a:xfrm>
            <a:off x="1778000" y="647700"/>
            <a:ext cx="8255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4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难点一：</a:t>
            </a:r>
            <a:r>
              <a:rPr lang="en-US" sz="24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前后端怎么对话？</a:t>
            </a:r>
            <a:endParaRPr lang="en-US" sz="1100"/>
          </a:p>
        </p:txBody>
      </p:sp>
      <p:sp>
        <p:nvSpPr>
          <p:cNvPr id="9" name="Freeform 9"/>
          <p:cNvSpPr/>
          <p:nvPr/>
        </p:nvSpPr>
        <p:spPr>
          <a:xfrm>
            <a:off x="1536700" y="1854200"/>
            <a:ext cx="387880" cy="360001"/>
          </a:xfrm>
          <a:custGeom>
            <a:avLst/>
            <a:gdLst/>
            <a:ahLst/>
            <a:cxnLst/>
            <a:rect l="l" t="t" r="r" b="b"/>
            <a:pathLst>
              <a:path w="387880" h="360001">
                <a:moveTo>
                  <a:pt x="167020" y="15894"/>
                </a:moveTo>
                <a:lnTo>
                  <a:pt x="167020" y="80555"/>
                </a:lnTo>
                <a:cubicBezTo>
                  <a:pt x="167020" y="89292"/>
                  <a:pt x="159936" y="96366"/>
                  <a:pt x="151102" y="96366"/>
                </a:cubicBezTo>
                <a:cubicBezTo>
                  <a:pt x="119765" y="96366"/>
                  <a:pt x="102762" y="128488"/>
                  <a:pt x="100429" y="191817"/>
                </a:cubicBezTo>
                <a:lnTo>
                  <a:pt x="151102" y="191817"/>
                </a:lnTo>
                <a:cubicBezTo>
                  <a:pt x="159936" y="191817"/>
                  <a:pt x="167020" y="198891"/>
                  <a:pt x="167020" y="207628"/>
                </a:cubicBezTo>
                <a:lnTo>
                  <a:pt x="167020" y="344105"/>
                </a:lnTo>
                <a:cubicBezTo>
                  <a:pt x="167020" y="352927"/>
                  <a:pt x="159936" y="360001"/>
                  <a:pt x="151102" y="360001"/>
                </a:cubicBezTo>
                <a:lnTo>
                  <a:pt x="15918" y="360001"/>
                </a:lnTo>
                <a:cubicBezTo>
                  <a:pt x="7084" y="360001"/>
                  <a:pt x="0" y="352927"/>
                  <a:pt x="0" y="344105"/>
                </a:cubicBezTo>
                <a:lnTo>
                  <a:pt x="0" y="207628"/>
                </a:lnTo>
                <a:cubicBezTo>
                  <a:pt x="0" y="177336"/>
                  <a:pt x="3084" y="149459"/>
                  <a:pt x="9084" y="124910"/>
                </a:cubicBezTo>
                <a:cubicBezTo>
                  <a:pt x="15251" y="99695"/>
                  <a:pt x="24754" y="77643"/>
                  <a:pt x="37338" y="59334"/>
                </a:cubicBezTo>
                <a:cubicBezTo>
                  <a:pt x="50173" y="40611"/>
                  <a:pt x="66341" y="25881"/>
                  <a:pt x="85260" y="15561"/>
                </a:cubicBezTo>
                <a:cubicBezTo>
                  <a:pt x="104346" y="5243"/>
                  <a:pt x="126515" y="0"/>
                  <a:pt x="151102" y="0"/>
                </a:cubicBezTo>
                <a:cubicBezTo>
                  <a:pt x="159936" y="0"/>
                  <a:pt x="167020" y="7156"/>
                  <a:pt x="167020" y="15894"/>
                </a:cubicBezTo>
                <a:close/>
                <a:moveTo>
                  <a:pt x="372045" y="96366"/>
                </a:moveTo>
                <a:cubicBezTo>
                  <a:pt x="380796" y="96366"/>
                  <a:pt x="387880" y="89292"/>
                  <a:pt x="387880" y="80555"/>
                </a:cubicBezTo>
                <a:lnTo>
                  <a:pt x="387880" y="15894"/>
                </a:lnTo>
                <a:cubicBezTo>
                  <a:pt x="387880" y="7156"/>
                  <a:pt x="380796" y="0"/>
                  <a:pt x="372045" y="0"/>
                </a:cubicBezTo>
                <a:cubicBezTo>
                  <a:pt x="347375" y="0"/>
                  <a:pt x="325206" y="5243"/>
                  <a:pt x="306203" y="15561"/>
                </a:cubicBezTo>
                <a:cubicBezTo>
                  <a:pt x="287284" y="25881"/>
                  <a:pt x="271116" y="40611"/>
                  <a:pt x="258197" y="59334"/>
                </a:cubicBezTo>
                <a:cubicBezTo>
                  <a:pt x="245697" y="77643"/>
                  <a:pt x="236195" y="99695"/>
                  <a:pt x="229945" y="124910"/>
                </a:cubicBezTo>
                <a:cubicBezTo>
                  <a:pt x="223944" y="149459"/>
                  <a:pt x="220859" y="177336"/>
                  <a:pt x="220859" y="207628"/>
                </a:cubicBezTo>
                <a:lnTo>
                  <a:pt x="220859" y="344105"/>
                </a:lnTo>
                <a:cubicBezTo>
                  <a:pt x="220859" y="352927"/>
                  <a:pt x="228027" y="360001"/>
                  <a:pt x="236779" y="360001"/>
                </a:cubicBezTo>
                <a:lnTo>
                  <a:pt x="372045" y="360001"/>
                </a:lnTo>
                <a:cubicBezTo>
                  <a:pt x="380796" y="360001"/>
                  <a:pt x="387880" y="352927"/>
                  <a:pt x="387880" y="344105"/>
                </a:cubicBezTo>
                <a:lnTo>
                  <a:pt x="387880" y="207628"/>
                </a:lnTo>
                <a:cubicBezTo>
                  <a:pt x="387880" y="198891"/>
                  <a:pt x="380796" y="191817"/>
                  <a:pt x="372045" y="191817"/>
                </a:cubicBezTo>
                <a:lnTo>
                  <a:pt x="322039" y="191817"/>
                </a:lnTo>
                <a:cubicBezTo>
                  <a:pt x="324372" y="128488"/>
                  <a:pt x="341125" y="96366"/>
                  <a:pt x="372045" y="96366"/>
                </a:cubicBezTo>
                <a:close/>
              </a:path>
            </a:pathLst>
          </a:custGeom>
          <a:solidFill>
            <a:srgbClr val="887BA3">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032000" y="2019300"/>
            <a:ext cx="8140700" cy="1676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8000"/>
              </a:lnSpc>
              <a:defRPr/>
            </a:pPr>
            <a:r>
              <a:rPr lang="en-US" sz="1800" b="0" i="1"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i="1">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前端和后端就像两个说不同语言的巫师，我们需要一个‘翻译咒’来让他们沟通。”</a:t>
            </a:r>
            <a:endParaRPr lang="en-US" sz="1800"/>
          </a:p>
        </p:txBody>
      </p:sp>
      <p:sp>
        <p:nvSpPr>
          <p:cNvPr id="11" name="Freeform 11"/>
          <p:cNvSpPr/>
          <p:nvPr/>
        </p:nvSpPr>
        <p:spPr>
          <a:xfrm rot="10800000">
            <a:off x="10261600" y="3492500"/>
            <a:ext cx="387880" cy="360001"/>
          </a:xfrm>
          <a:custGeom>
            <a:avLst/>
            <a:gdLst/>
            <a:ahLst/>
            <a:cxnLst/>
            <a:rect l="l" t="t" r="r" b="b"/>
            <a:pathLst>
              <a:path w="387880" h="360001">
                <a:moveTo>
                  <a:pt x="167020" y="15894"/>
                </a:moveTo>
                <a:lnTo>
                  <a:pt x="167020" y="80555"/>
                </a:lnTo>
                <a:cubicBezTo>
                  <a:pt x="167020" y="89292"/>
                  <a:pt x="159936" y="96366"/>
                  <a:pt x="151102" y="96366"/>
                </a:cubicBezTo>
                <a:cubicBezTo>
                  <a:pt x="119765" y="96366"/>
                  <a:pt x="102762" y="128488"/>
                  <a:pt x="100429" y="191817"/>
                </a:cubicBezTo>
                <a:lnTo>
                  <a:pt x="151102" y="191817"/>
                </a:lnTo>
                <a:cubicBezTo>
                  <a:pt x="159936" y="191817"/>
                  <a:pt x="167020" y="198891"/>
                  <a:pt x="167020" y="207628"/>
                </a:cubicBezTo>
                <a:lnTo>
                  <a:pt x="167020" y="344105"/>
                </a:lnTo>
                <a:cubicBezTo>
                  <a:pt x="167020" y="352927"/>
                  <a:pt x="159936" y="360001"/>
                  <a:pt x="151102" y="360001"/>
                </a:cubicBezTo>
                <a:lnTo>
                  <a:pt x="15918" y="360001"/>
                </a:lnTo>
                <a:cubicBezTo>
                  <a:pt x="7084" y="360001"/>
                  <a:pt x="0" y="352927"/>
                  <a:pt x="0" y="344105"/>
                </a:cubicBezTo>
                <a:lnTo>
                  <a:pt x="0" y="207628"/>
                </a:lnTo>
                <a:cubicBezTo>
                  <a:pt x="0" y="177336"/>
                  <a:pt x="3084" y="149459"/>
                  <a:pt x="9084" y="124910"/>
                </a:cubicBezTo>
                <a:cubicBezTo>
                  <a:pt x="15251" y="99695"/>
                  <a:pt x="24754" y="77643"/>
                  <a:pt x="37338" y="59334"/>
                </a:cubicBezTo>
                <a:cubicBezTo>
                  <a:pt x="50173" y="40611"/>
                  <a:pt x="66341" y="25881"/>
                  <a:pt x="85260" y="15561"/>
                </a:cubicBezTo>
                <a:cubicBezTo>
                  <a:pt x="104346" y="5243"/>
                  <a:pt x="126515" y="0"/>
                  <a:pt x="151102" y="0"/>
                </a:cubicBezTo>
                <a:cubicBezTo>
                  <a:pt x="159936" y="0"/>
                  <a:pt x="167020" y="7156"/>
                  <a:pt x="167020" y="15894"/>
                </a:cubicBezTo>
                <a:close/>
                <a:moveTo>
                  <a:pt x="372045" y="96366"/>
                </a:moveTo>
                <a:cubicBezTo>
                  <a:pt x="380796" y="96366"/>
                  <a:pt x="387880" y="89292"/>
                  <a:pt x="387880" y="80555"/>
                </a:cubicBezTo>
                <a:lnTo>
                  <a:pt x="387880" y="15894"/>
                </a:lnTo>
                <a:cubicBezTo>
                  <a:pt x="387880" y="7156"/>
                  <a:pt x="380796" y="0"/>
                  <a:pt x="372045" y="0"/>
                </a:cubicBezTo>
                <a:cubicBezTo>
                  <a:pt x="347375" y="0"/>
                  <a:pt x="325206" y="5243"/>
                  <a:pt x="306203" y="15561"/>
                </a:cubicBezTo>
                <a:cubicBezTo>
                  <a:pt x="287284" y="25881"/>
                  <a:pt x="271116" y="40611"/>
                  <a:pt x="258197" y="59334"/>
                </a:cubicBezTo>
                <a:cubicBezTo>
                  <a:pt x="245697" y="77643"/>
                  <a:pt x="236195" y="99695"/>
                  <a:pt x="229945" y="124910"/>
                </a:cubicBezTo>
                <a:cubicBezTo>
                  <a:pt x="223944" y="149459"/>
                  <a:pt x="220859" y="177336"/>
                  <a:pt x="220859" y="207628"/>
                </a:cubicBezTo>
                <a:lnTo>
                  <a:pt x="220859" y="344105"/>
                </a:lnTo>
                <a:cubicBezTo>
                  <a:pt x="220859" y="352927"/>
                  <a:pt x="228027" y="360001"/>
                  <a:pt x="236779" y="360001"/>
                </a:cubicBezTo>
                <a:lnTo>
                  <a:pt x="372045" y="360001"/>
                </a:lnTo>
                <a:cubicBezTo>
                  <a:pt x="380796" y="360001"/>
                  <a:pt x="387880" y="352927"/>
                  <a:pt x="387880" y="344105"/>
                </a:cubicBezTo>
                <a:lnTo>
                  <a:pt x="387880" y="207628"/>
                </a:lnTo>
                <a:cubicBezTo>
                  <a:pt x="387880" y="198891"/>
                  <a:pt x="380796" y="191817"/>
                  <a:pt x="372045" y="191817"/>
                </a:cubicBezTo>
                <a:lnTo>
                  <a:pt x="322039" y="191817"/>
                </a:lnTo>
                <a:cubicBezTo>
                  <a:pt x="324372" y="128488"/>
                  <a:pt x="341125" y="96366"/>
                  <a:pt x="372045" y="96366"/>
                </a:cubicBezTo>
                <a:close/>
              </a:path>
            </a:pathLst>
          </a:custGeom>
          <a:solidFill>
            <a:srgbClr val="887BA3">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511300" y="3945255"/>
            <a:ext cx="9144000" cy="219837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前端发请求：</a:t>
            </a:r>
            <a:r>
              <a:rPr lang="en-US" sz="18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用户在网页上操作，比如点击“查书”，前端就会用JavaScript的fetch函数，给后端发一个请求，告诉他“我要查所有书”。</a:t>
            </a:r>
            <a:endParaRPr lang="en-US" sz="1800"/>
          </a:p>
          <a:p>
            <a:pPr indent="0" algn="l">
              <a:lnSpc>
                <a:spcPct val="117000"/>
              </a:lnSpc>
            </a:pPr>
            <a:r>
              <a:rPr lang="en-US" sz="1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后端收请求：</a:t>
            </a:r>
            <a:r>
              <a:rPr lang="en-US" sz="18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后端的Java Servlet会收到这个请求，然后去数据库里查书，再把查到的书打包成JSON格式，发给前端。</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17000"/>
              </a:lnSpc>
            </a:pPr>
            <a:r>
              <a:rPr lang="en-US" sz="1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前端显示结果：</a:t>
            </a:r>
            <a:r>
              <a:rPr lang="en-US" sz="18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前端收到后端发来的书的信息，再把它显示在网页上。</a:t>
            </a:r>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3810" y="635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8" name="AutoShape 8"/>
          <p:cNvSpPr/>
          <p:nvPr/>
        </p:nvSpPr>
        <p:spPr>
          <a:xfrm>
            <a:off x="1778000" y="647700"/>
            <a:ext cx="762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4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难点二：</a:t>
            </a:r>
            <a:r>
              <a:rPr lang="en-US" sz="2400" b="1">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后端怎么连数据库？</a:t>
            </a:r>
            <a:endParaRPr lang="en-US" sz="1100"/>
          </a:p>
        </p:txBody>
      </p:sp>
      <p:sp>
        <p:nvSpPr>
          <p:cNvPr id="9" name="AutoShape 9"/>
          <p:cNvSpPr/>
          <p:nvPr/>
        </p:nvSpPr>
        <p:spPr>
          <a:xfrm>
            <a:off x="3556000" y="1397000"/>
            <a:ext cx="5080000" cy="6350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endPar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Freeform 10"/>
          <p:cNvSpPr/>
          <p:nvPr/>
        </p:nvSpPr>
        <p:spPr>
          <a:xfrm>
            <a:off x="5638800" y="4432300"/>
            <a:ext cx="906758" cy="766335"/>
          </a:xfrm>
          <a:custGeom>
            <a:avLst/>
            <a:gdLst/>
            <a:ahLst/>
            <a:cxnLst/>
            <a:rect l="l" t="t" r="r" b="b"/>
            <a:pathLst>
              <a:path w="906758" h="766335">
                <a:moveTo>
                  <a:pt x="906758" y="0"/>
                </a:moveTo>
                <a:cubicBezTo>
                  <a:pt x="773579" y="76070"/>
                  <a:pt x="617729" y="121148"/>
                  <a:pt x="453380" y="121148"/>
                </a:cubicBezTo>
                <a:cubicBezTo>
                  <a:pt x="289029" y="121148"/>
                  <a:pt x="133180" y="76070"/>
                  <a:pt x="0" y="0"/>
                </a:cubicBezTo>
                <a:cubicBezTo>
                  <a:pt x="5667" y="326819"/>
                  <a:pt x="187019" y="614194"/>
                  <a:pt x="453380" y="766335"/>
                </a:cubicBezTo>
                <a:cubicBezTo>
                  <a:pt x="719739" y="614194"/>
                  <a:pt x="901092" y="326819"/>
                  <a:pt x="906758" y="0"/>
                </a:cubicBezTo>
                <a:close/>
              </a:path>
            </a:pathLst>
          </a:custGeom>
          <a:solidFill>
            <a:srgbClr val="FFFFFF">
              <a:alpha val="100000"/>
            </a:srgbClr>
          </a:solidFill>
          <a:ln w="12700" cap="flat" cmpd="sng">
            <a:solidFill>
              <a:srgbClr val="6A529C">
                <a:alpha val="30000"/>
              </a:srgbClr>
            </a:solidFill>
            <a:prstDash val="solid"/>
            <a:round/>
          </a:ln>
        </p:spPr>
        <p:txBody>
          <a:bodyPr vert="horz" wrap="square" lIns="63500" tIns="63500" rIns="63500" bIns="63500" rtlCol="0" anchor="ctr"/>
          <a:lstStyle/>
          <a:p>
            <a:pPr algn="ctr">
              <a:defRPr/>
            </a:pPr>
          </a:p>
        </p:txBody>
      </p:sp>
      <p:sp>
        <p:nvSpPr>
          <p:cNvPr id="11" name="Freeform 11"/>
          <p:cNvSpPr/>
          <p:nvPr/>
        </p:nvSpPr>
        <p:spPr>
          <a:xfrm>
            <a:off x="5194300" y="3517900"/>
            <a:ext cx="902749" cy="918798"/>
          </a:xfrm>
          <a:custGeom>
            <a:avLst/>
            <a:gdLst/>
            <a:ahLst/>
            <a:cxnLst/>
            <a:rect l="l" t="t" r="r" b="b"/>
            <a:pathLst>
              <a:path w="902749" h="918798">
                <a:moveTo>
                  <a:pt x="451375" y="918798"/>
                </a:moveTo>
                <a:cubicBezTo>
                  <a:pt x="451375" y="913144"/>
                  <a:pt x="451375" y="910317"/>
                  <a:pt x="451375" y="904663"/>
                </a:cubicBezTo>
                <a:cubicBezTo>
                  <a:pt x="451375" y="571068"/>
                  <a:pt x="631924" y="277053"/>
                  <a:pt x="902749" y="121564"/>
                </a:cubicBezTo>
                <a:cubicBezTo>
                  <a:pt x="770157" y="45234"/>
                  <a:pt x="614998" y="0"/>
                  <a:pt x="451375" y="0"/>
                </a:cubicBezTo>
                <a:cubicBezTo>
                  <a:pt x="287752" y="0"/>
                  <a:pt x="132592" y="45234"/>
                  <a:pt x="0" y="121564"/>
                </a:cubicBezTo>
                <a:cubicBezTo>
                  <a:pt x="0" y="127218"/>
                  <a:pt x="0" y="130045"/>
                  <a:pt x="0" y="135700"/>
                </a:cubicBezTo>
                <a:cubicBezTo>
                  <a:pt x="0" y="469294"/>
                  <a:pt x="180550" y="763309"/>
                  <a:pt x="451375" y="918798"/>
                </a:cubicBezTo>
                <a:close/>
              </a:path>
            </a:pathLst>
          </a:custGeom>
          <a:solidFill>
            <a:srgbClr val="FFFFFF">
              <a:alpha val="100000"/>
            </a:srgbClr>
          </a:solidFill>
          <a:ln w="12700" cap="flat" cmpd="sng">
            <a:solidFill>
              <a:srgbClr val="6A529C">
                <a:alpha val="30000"/>
              </a:srgbClr>
            </a:solidFill>
            <a:prstDash val="solid"/>
            <a:round/>
          </a:ln>
        </p:spPr>
        <p:txBody>
          <a:bodyPr vert="horz" wrap="square" lIns="63500" tIns="63500" rIns="63500" bIns="63500" rtlCol="0" anchor="ctr"/>
          <a:lstStyle/>
          <a:p>
            <a:pPr algn="ctr">
              <a:defRPr/>
            </a:pPr>
          </a:p>
        </p:txBody>
      </p:sp>
      <p:sp>
        <p:nvSpPr>
          <p:cNvPr id="12" name="Freeform 12"/>
          <p:cNvSpPr/>
          <p:nvPr/>
        </p:nvSpPr>
        <p:spPr>
          <a:xfrm>
            <a:off x="6096000" y="3517900"/>
            <a:ext cx="902749" cy="918798"/>
          </a:xfrm>
          <a:custGeom>
            <a:avLst/>
            <a:gdLst/>
            <a:ahLst/>
            <a:cxnLst/>
            <a:rect l="l" t="t" r="r" b="b"/>
            <a:pathLst>
              <a:path w="902749" h="918798">
                <a:moveTo>
                  <a:pt x="0" y="121564"/>
                </a:moveTo>
                <a:cubicBezTo>
                  <a:pt x="270825" y="277053"/>
                  <a:pt x="451375" y="571068"/>
                  <a:pt x="451375" y="904663"/>
                </a:cubicBezTo>
                <a:cubicBezTo>
                  <a:pt x="451375" y="910317"/>
                  <a:pt x="451375" y="913144"/>
                  <a:pt x="451375" y="918798"/>
                </a:cubicBezTo>
                <a:cubicBezTo>
                  <a:pt x="722199" y="763309"/>
                  <a:pt x="902749" y="469294"/>
                  <a:pt x="902749" y="135700"/>
                </a:cubicBezTo>
                <a:cubicBezTo>
                  <a:pt x="902749" y="130045"/>
                  <a:pt x="902749" y="127218"/>
                  <a:pt x="902749" y="121564"/>
                </a:cubicBezTo>
                <a:cubicBezTo>
                  <a:pt x="770157" y="45234"/>
                  <a:pt x="614997" y="0"/>
                  <a:pt x="451375" y="0"/>
                </a:cubicBezTo>
                <a:cubicBezTo>
                  <a:pt x="287752" y="0"/>
                  <a:pt x="132592" y="45234"/>
                  <a:pt x="0" y="121564"/>
                </a:cubicBezTo>
                <a:close/>
              </a:path>
            </a:pathLst>
          </a:custGeom>
          <a:solidFill>
            <a:srgbClr val="FFFFFF">
              <a:alpha val="100000"/>
            </a:srgbClr>
          </a:solidFill>
          <a:ln w="12700" cap="flat" cmpd="sng">
            <a:solidFill>
              <a:srgbClr val="6A529C">
                <a:alpha val="30000"/>
              </a:srgbClr>
            </a:solidFill>
            <a:prstDash val="solid"/>
            <a:round/>
          </a:ln>
        </p:spPr>
        <p:txBody>
          <a:bodyPr vert="horz" wrap="square" lIns="63500" tIns="63500" rIns="63500" bIns="63500" rtlCol="0" anchor="ctr"/>
          <a:lstStyle/>
          <a:p>
            <a:pPr algn="ctr">
              <a:defRPr/>
            </a:pPr>
          </a:p>
        </p:txBody>
      </p:sp>
      <p:sp>
        <p:nvSpPr>
          <p:cNvPr id="13" name="Freeform 13"/>
          <p:cNvSpPr/>
          <p:nvPr/>
        </p:nvSpPr>
        <p:spPr>
          <a:xfrm>
            <a:off x="5638800" y="3632200"/>
            <a:ext cx="906758" cy="918798"/>
          </a:xfrm>
          <a:custGeom>
            <a:avLst/>
            <a:gdLst/>
            <a:ahLst/>
            <a:cxnLst/>
            <a:rect l="l" t="t" r="r" b="b"/>
            <a:pathLst>
              <a:path w="906758" h="918798">
                <a:moveTo>
                  <a:pt x="453380" y="0"/>
                </a:moveTo>
                <a:cubicBezTo>
                  <a:pt x="181352" y="155489"/>
                  <a:pt x="0" y="449504"/>
                  <a:pt x="0" y="783099"/>
                </a:cubicBezTo>
                <a:cubicBezTo>
                  <a:pt x="0" y="788753"/>
                  <a:pt x="0" y="791580"/>
                  <a:pt x="0" y="797234"/>
                </a:cubicBezTo>
                <a:cubicBezTo>
                  <a:pt x="133180" y="873564"/>
                  <a:pt x="289029" y="918798"/>
                  <a:pt x="453380" y="918798"/>
                </a:cubicBezTo>
                <a:cubicBezTo>
                  <a:pt x="617729" y="918798"/>
                  <a:pt x="773579" y="873564"/>
                  <a:pt x="906758" y="797234"/>
                </a:cubicBezTo>
                <a:cubicBezTo>
                  <a:pt x="906758" y="791580"/>
                  <a:pt x="906758" y="788753"/>
                  <a:pt x="906758" y="783099"/>
                </a:cubicBezTo>
                <a:cubicBezTo>
                  <a:pt x="906758" y="449504"/>
                  <a:pt x="725407" y="155489"/>
                  <a:pt x="453380" y="0"/>
                </a:cubicBezTo>
                <a:close/>
              </a:path>
            </a:pathLst>
          </a:custGeom>
          <a:solidFill>
            <a:srgbClr val="6A529C">
              <a:alpha val="10000"/>
            </a:srgbClr>
          </a:solidFill>
          <a:ln w="12700" cap="flat" cmpd="sng">
            <a:solidFill>
              <a:srgbClr val="6A529C">
                <a:alpha val="20000"/>
              </a:srgbClr>
            </a:solidFill>
            <a:prstDash val="solid"/>
            <a:round/>
          </a:ln>
        </p:spPr>
        <p:txBody>
          <a:bodyPr vert="horz" wrap="square" lIns="63500" tIns="63500" rIns="63500" bIns="63500" rtlCol="0" anchor="ctr"/>
          <a:lstStyle/>
          <a:p>
            <a:pPr algn="ctr">
              <a:defRPr/>
            </a:pPr>
          </a:p>
        </p:txBody>
      </p:sp>
      <p:sp>
        <p:nvSpPr>
          <p:cNvPr id="14" name="Freeform 14"/>
          <p:cNvSpPr/>
          <p:nvPr/>
        </p:nvSpPr>
        <p:spPr>
          <a:xfrm>
            <a:off x="4857750" y="3219450"/>
            <a:ext cx="1865678" cy="1861668"/>
          </a:xfrm>
          <a:custGeom>
            <a:avLst/>
            <a:gdLst/>
            <a:ahLst/>
            <a:cxnLst/>
            <a:rect l="l" t="t" r="r" b="b"/>
            <a:pathLst>
              <a:path w="1865678" h="1861668">
                <a:moveTo>
                  <a:pt x="932839" y="1861668"/>
                </a:moveTo>
                <a:cubicBezTo>
                  <a:pt x="418365" y="1861668"/>
                  <a:pt x="0" y="1444203"/>
                  <a:pt x="0" y="930834"/>
                </a:cubicBezTo>
                <a:cubicBezTo>
                  <a:pt x="0" y="417466"/>
                  <a:pt x="418365" y="0"/>
                  <a:pt x="932839" y="0"/>
                </a:cubicBezTo>
                <a:cubicBezTo>
                  <a:pt x="1447314" y="0"/>
                  <a:pt x="1865678" y="417466"/>
                  <a:pt x="1865678" y="930834"/>
                </a:cubicBezTo>
                <a:cubicBezTo>
                  <a:pt x="1865678" y="1444203"/>
                  <a:pt x="1447314" y="1861668"/>
                  <a:pt x="932839" y="1861668"/>
                </a:cubicBezTo>
                <a:close/>
                <a:moveTo>
                  <a:pt x="932839" y="56415"/>
                </a:moveTo>
                <a:cubicBezTo>
                  <a:pt x="449459" y="56415"/>
                  <a:pt x="56535" y="448493"/>
                  <a:pt x="56535" y="930834"/>
                </a:cubicBezTo>
                <a:cubicBezTo>
                  <a:pt x="56535" y="1413175"/>
                  <a:pt x="449459" y="1805254"/>
                  <a:pt x="932839" y="1805254"/>
                </a:cubicBezTo>
                <a:cubicBezTo>
                  <a:pt x="1416219" y="1805254"/>
                  <a:pt x="1809142" y="1413175"/>
                  <a:pt x="1809142" y="930834"/>
                </a:cubicBezTo>
                <a:cubicBezTo>
                  <a:pt x="1809142" y="448493"/>
                  <a:pt x="1416219" y="56415"/>
                  <a:pt x="932839" y="56415"/>
                </a:cubicBezTo>
                <a:close/>
              </a:path>
            </a:pathLst>
          </a:custGeom>
          <a:solidFill>
            <a:srgbClr val="6A529C">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5754370" y="3160395"/>
            <a:ext cx="1865678" cy="1861668"/>
          </a:xfrm>
          <a:custGeom>
            <a:avLst/>
            <a:gdLst/>
            <a:ahLst/>
            <a:cxnLst/>
            <a:rect l="l" t="t" r="r" b="b"/>
            <a:pathLst>
              <a:path w="1865678" h="1861668">
                <a:moveTo>
                  <a:pt x="932839" y="1861668"/>
                </a:moveTo>
                <a:cubicBezTo>
                  <a:pt x="418365" y="1861668"/>
                  <a:pt x="0" y="1444203"/>
                  <a:pt x="0" y="930834"/>
                </a:cubicBezTo>
                <a:cubicBezTo>
                  <a:pt x="0" y="417466"/>
                  <a:pt x="418365" y="0"/>
                  <a:pt x="932839" y="0"/>
                </a:cubicBezTo>
                <a:cubicBezTo>
                  <a:pt x="1447314" y="0"/>
                  <a:pt x="1865678" y="417466"/>
                  <a:pt x="1865678" y="930834"/>
                </a:cubicBezTo>
                <a:cubicBezTo>
                  <a:pt x="1865678" y="1444203"/>
                  <a:pt x="1447314" y="1861668"/>
                  <a:pt x="932839" y="1861668"/>
                </a:cubicBezTo>
                <a:close/>
                <a:moveTo>
                  <a:pt x="932839" y="56415"/>
                </a:moveTo>
                <a:cubicBezTo>
                  <a:pt x="449459" y="56415"/>
                  <a:pt x="56535" y="448493"/>
                  <a:pt x="56535" y="930834"/>
                </a:cubicBezTo>
                <a:cubicBezTo>
                  <a:pt x="56535" y="1413175"/>
                  <a:pt x="449459" y="1805254"/>
                  <a:pt x="932839" y="1805254"/>
                </a:cubicBezTo>
                <a:cubicBezTo>
                  <a:pt x="1416219" y="1805254"/>
                  <a:pt x="1809142" y="1413175"/>
                  <a:pt x="1809142" y="930834"/>
                </a:cubicBezTo>
                <a:cubicBezTo>
                  <a:pt x="1809142" y="448493"/>
                  <a:pt x="1416219" y="56415"/>
                  <a:pt x="932839" y="56415"/>
                </a:cubicBezTo>
                <a:close/>
              </a:path>
            </a:pathLst>
          </a:custGeom>
          <a:solidFill>
            <a:srgbClr val="A28EB7">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5168900" y="2717800"/>
            <a:ext cx="1861665" cy="1861668"/>
          </a:xfrm>
          <a:custGeom>
            <a:avLst/>
            <a:gdLst/>
            <a:ahLst/>
            <a:cxnLst/>
            <a:rect l="l" t="t" r="r" b="b"/>
            <a:pathLst>
              <a:path w="1861665" h="1861668">
                <a:moveTo>
                  <a:pt x="930833" y="1861668"/>
                </a:moveTo>
                <a:cubicBezTo>
                  <a:pt x="417464" y="1861668"/>
                  <a:pt x="0" y="1444203"/>
                  <a:pt x="0" y="930834"/>
                </a:cubicBezTo>
                <a:cubicBezTo>
                  <a:pt x="0" y="417466"/>
                  <a:pt x="417464" y="0"/>
                  <a:pt x="930833" y="0"/>
                </a:cubicBezTo>
                <a:cubicBezTo>
                  <a:pt x="1444201" y="0"/>
                  <a:pt x="1861665" y="417466"/>
                  <a:pt x="1861665" y="930834"/>
                </a:cubicBezTo>
                <a:cubicBezTo>
                  <a:pt x="1861665" y="1444203"/>
                  <a:pt x="1444201" y="1861668"/>
                  <a:pt x="930833" y="1861668"/>
                </a:cubicBezTo>
                <a:close/>
                <a:moveTo>
                  <a:pt x="930833" y="56415"/>
                </a:moveTo>
                <a:cubicBezTo>
                  <a:pt x="448492" y="56415"/>
                  <a:pt x="56415" y="448493"/>
                  <a:pt x="56415" y="930834"/>
                </a:cubicBezTo>
                <a:cubicBezTo>
                  <a:pt x="56415" y="1413175"/>
                  <a:pt x="448492" y="1805254"/>
                  <a:pt x="930833" y="1805254"/>
                </a:cubicBezTo>
                <a:cubicBezTo>
                  <a:pt x="1413173" y="1805254"/>
                  <a:pt x="1805250" y="1413175"/>
                  <a:pt x="1805250" y="930834"/>
                </a:cubicBezTo>
                <a:cubicBezTo>
                  <a:pt x="1805250" y="448493"/>
                  <a:pt x="1413173" y="56415"/>
                  <a:pt x="930833" y="56415"/>
                </a:cubicBezTo>
                <a:close/>
              </a:path>
            </a:pathLst>
          </a:custGeom>
          <a:solidFill>
            <a:srgbClr val="887BA3">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270000" y="2540000"/>
            <a:ext cx="3302000" cy="1270000"/>
          </a:xfrm>
          <a:prstGeom prst="roundRect">
            <a:avLst>
              <a:gd name="adj" fmla="val 10000"/>
            </a:avLst>
          </a:prstGeom>
          <a:solidFill>
            <a:srgbClr val="F8F5FF">
              <a:alpha val="100000"/>
            </a:srgbClr>
          </a:solidFill>
          <a:ln w="12700" cap="flat" cmpd="sng">
            <a:solidFill>
              <a:srgbClr val="6A529C">
                <a:alpha val="20000"/>
              </a:srgbClr>
            </a:solidFill>
            <a:prstDash val="solid"/>
            <a:round/>
          </a:ln>
        </p:spPr>
        <p:txBody>
          <a:bodyPr vert="horz" wrap="square" lIns="190500" tIns="127000" rIns="190500" bIns="127000" rtlCol="0" anchor="ctr" anchorCtr="0"/>
          <a:lstStyle/>
          <a:p>
            <a:pPr indent="0" algn="l">
              <a:lnSpc>
                <a:spcPct val="108000"/>
              </a:lnSpc>
              <a:defRPr/>
            </a:pPr>
            <a:r>
              <a:rPr lang="en-US" sz="20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2000" b="1">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建立连接</a:t>
            </a:r>
            <a:endParaRPr lang="en-US" sz="2000"/>
          </a:p>
          <a:p>
            <a:pPr indent="0" algn="l">
              <a:lnSpc>
                <a:spcPct val="117000"/>
              </a:lnSpc>
            </a:pPr>
            <a:r>
              <a:rPr lang="en-US" sz="180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后端用JDBC技术连接MySQL数据库，就像用一把钥匙打开仓库的门。</a:t>
            </a:r>
            <a:endPar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0" y="2540000"/>
            <a:ext cx="3302000" cy="1270000"/>
          </a:xfrm>
          <a:prstGeom prst="roundRect">
            <a:avLst>
              <a:gd name="adj" fmla="val 10000"/>
            </a:avLst>
          </a:prstGeom>
          <a:solidFill>
            <a:srgbClr val="F8F5FF">
              <a:alpha val="100000"/>
            </a:srgbClr>
          </a:solidFill>
          <a:ln w="12700" cap="flat" cmpd="sng">
            <a:solidFill>
              <a:srgbClr val="6A529C">
                <a:alpha val="20000"/>
              </a:srgbClr>
            </a:solidFill>
            <a:prstDash val="solid"/>
            <a:round/>
          </a:ln>
        </p:spPr>
        <p:txBody>
          <a:bodyPr vert="horz" wrap="square" lIns="190500" tIns="127000" rIns="190500" bIns="127000" rtlCol="0" anchor="ctr" anchorCtr="0"/>
          <a:lstStyle/>
          <a:p>
            <a:pPr indent="0" algn="l">
              <a:lnSpc>
                <a:spcPct val="108000"/>
              </a:lnSpc>
              <a:defRPr/>
            </a:pPr>
            <a:r>
              <a:rPr lang="en-US" sz="20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2000" b="1">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 DAO层</a:t>
            </a:r>
            <a:endParaRPr lang="en-US" sz="2000"/>
          </a:p>
          <a:p>
            <a:pPr indent="0" algn="l">
              <a:lnSpc>
                <a:spcPct val="117000"/>
              </a:lnSpc>
            </a:pPr>
            <a:r>
              <a:rPr lang="en-US" sz="180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写专门的代码（DAO层）来操作数据库，比如查书、加书、删书。</a:t>
            </a:r>
            <a:endPar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3810000" y="4826000"/>
            <a:ext cx="4572000" cy="1143000"/>
          </a:xfrm>
          <a:prstGeom prst="roundRect">
            <a:avLst>
              <a:gd name="adj" fmla="val 11111"/>
            </a:avLst>
          </a:prstGeom>
          <a:solidFill>
            <a:srgbClr val="F8F5FF">
              <a:alpha val="100000"/>
            </a:srgbClr>
          </a:solidFill>
          <a:ln w="12700" cap="flat" cmpd="sng">
            <a:solidFill>
              <a:srgbClr val="6A529C">
                <a:alpha val="20000"/>
              </a:srgbClr>
            </a:solidFill>
            <a:prstDash val="solid"/>
            <a:round/>
          </a:ln>
        </p:spPr>
        <p:txBody>
          <a:bodyPr vert="horz" wrap="square" lIns="190500" tIns="127000" rIns="190500" bIns="127000" rtlCol="0" anchor="ctr" anchorCtr="0"/>
          <a:lstStyle/>
          <a:p>
            <a:pPr indent="0" algn="ctr">
              <a:lnSpc>
                <a:spcPct val="108000"/>
              </a:lnSpc>
              <a:defRPr/>
            </a:pPr>
            <a:r>
              <a:rPr lang="en-US" sz="20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2000" b="1">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Service层</a:t>
            </a:r>
            <a:endParaRPr lang="en-US" sz="2000"/>
          </a:p>
          <a:p>
            <a:pPr indent="0" algn="l">
              <a:lnSpc>
                <a:spcPct val="117000"/>
              </a:lnSpc>
            </a:pPr>
            <a:r>
              <a:rPr lang="en-US" sz="180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调用DAO层的代码，处理业务逻辑，比如“这本书库存够不够，能不能借”。</a:t>
            </a:r>
            <a:endPar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1016000" y="6096000"/>
            <a:ext cx="10160000" cy="508000"/>
          </a:xfrm>
          <a:prstGeom prst="rect">
            <a:avLst/>
          </a:prstGeom>
          <a:noFill/>
          <a:ln w="12700" cap="flat" cmpd="sng">
            <a:noFill/>
            <a:prstDash val="solid"/>
            <a:round/>
          </a:ln>
        </p:spPr>
        <p:txBody>
          <a:bodyPr vert="horz" wrap="square" lIns="127000" tIns="0" rIns="127000" bIns="0" rtlCol="0" anchor="ctr" anchorCtr="0"/>
          <a:lstStyle/>
          <a:p>
            <a:pPr indent="0" algn="ctr">
              <a:lnSpc>
                <a:spcPct val="100000"/>
              </a:lnSpc>
              <a:defRPr/>
            </a:pP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8" name="AutoShape 8"/>
          <p:cNvSpPr/>
          <p:nvPr/>
        </p:nvSpPr>
        <p:spPr>
          <a:xfrm>
            <a:off x="1778000" y="647700"/>
            <a:ext cx="5715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0"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难点三：</a:t>
            </a:r>
            <a:r>
              <a:rPr lang="en-US" sz="2800" b="1">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权限怎么控制？</a:t>
            </a:r>
            <a:endParaRPr lang="en-US" sz="1100"/>
          </a:p>
        </p:txBody>
      </p:sp>
      <p:sp>
        <p:nvSpPr>
          <p:cNvPr id="9" name="AutoShape 9"/>
          <p:cNvSpPr/>
          <p:nvPr/>
        </p:nvSpPr>
        <p:spPr>
          <a:xfrm>
            <a:off x="4229100" y="1778000"/>
            <a:ext cx="6807200" cy="381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2000" b="1">
                <a:solidFill>
                  <a:srgbClr val="6A529C"/>
                </a:solidFill>
                <a:latin typeface="微软雅黑" panose="020B0503020204020204" charset="-122"/>
                <a:ea typeface="微软雅黑" panose="020B0503020204020204" charset="-122"/>
                <a:cs typeface="微软雅黑" panose="020B0503020204020204" charset="-122"/>
                <a:sym typeface="微软雅黑" panose="020B0503020204020204" charset="-122"/>
              </a:rPr>
              <a:t>1. 用户登录：</a:t>
            </a:r>
            <a:r>
              <a:rPr lang="en-US" sz="2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用户登录后，系统会把他的信息（比如是不是管理员）存在Session里。</a:t>
            </a:r>
            <a:endParaRPr lang="en-US" sz="2000"/>
          </a:p>
          <a:p>
            <a:pPr indent="0" algn="l">
              <a:lnSpc>
                <a:spcPct val="125000"/>
              </a:lnSpc>
            </a:pPr>
            <a:r>
              <a:rPr lang="en-US" sz="2000" b="1">
                <a:solidFill>
                  <a:srgbClr val="6A529C"/>
                </a:solidFill>
                <a:latin typeface="微软雅黑" panose="020B0503020204020204" charset="-122"/>
                <a:ea typeface="微软雅黑" panose="020B0503020204020204" charset="-122"/>
                <a:cs typeface="微软雅黑" panose="020B0503020204020204" charset="-122"/>
                <a:sym typeface="微软雅黑" panose="020B0503020204020204" charset="-122"/>
              </a:rPr>
              <a:t>2. 后端权限拦截：</a:t>
            </a:r>
            <a:r>
              <a:rPr lang="en-US" sz="2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当用户要做一些敏感操作（比如删书）时，后端会先检查Session里的用户角色。如果不是管理员，就拒绝操作。</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r>
              <a:rPr lang="en-US" sz="2000" b="1">
                <a:solidFill>
                  <a:srgbClr val="6A529C"/>
                </a:solidFill>
                <a:latin typeface="微软雅黑" panose="020B0503020204020204" charset="-122"/>
                <a:ea typeface="微软雅黑" panose="020B0503020204020204" charset="-122"/>
                <a:cs typeface="微软雅黑" panose="020B0503020204020204" charset="-122"/>
                <a:sym typeface="微软雅黑" panose="020B0503020204020204" charset="-122"/>
              </a:rPr>
              <a:t>3. 前端视图控制：</a:t>
            </a:r>
            <a:r>
              <a:rPr lang="en-US" sz="2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前端也会根据用户角色，决定显示哪些按钮。如果是普通用户，“编辑”和“删除”按钮就不会显示出来。</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endParaRPr lang="en-US" sz="2000"/>
          </a:p>
        </p:txBody>
      </p:sp>
      <p:sp>
        <p:nvSpPr>
          <p:cNvPr id="10" name="AutoShape 10"/>
          <p:cNvSpPr/>
          <p:nvPr/>
        </p:nvSpPr>
        <p:spPr>
          <a:xfrm>
            <a:off x="1270000" y="2311400"/>
            <a:ext cx="2108200" cy="2844800"/>
          </a:xfrm>
          <a:prstGeom prst="roundRect">
            <a:avLst>
              <a:gd name="adj" fmla="val 6024"/>
            </a:avLst>
          </a:prstGeom>
          <a:solidFill>
            <a:srgbClr val="F0F2F5">
              <a:alpha val="100000"/>
            </a:srgbClr>
          </a:solidFill>
          <a:ln w="12700" cap="flat" cmpd="sng">
            <a:solidFill>
              <a:srgbClr val="6A529C">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16100" y="3225800"/>
            <a:ext cx="1016000" cy="1016000"/>
          </a:xfrm>
          <a:prstGeom prst="rect">
            <a:avLst/>
          </a:prstGeom>
        </p:spPr>
      </p:pic>
      <p:sp>
        <p:nvSpPr>
          <p:cNvPr id="12" name="AutoShape 12"/>
          <p:cNvSpPr/>
          <p:nvPr/>
        </p:nvSpPr>
        <p:spPr>
          <a:xfrm>
            <a:off x="1270000" y="4318000"/>
            <a:ext cx="2108200" cy="381000"/>
          </a:xfrm>
          <a:prstGeom prst="rect">
            <a:avLst/>
          </a:prstGeom>
          <a:noFill/>
          <a:ln w="12700" cap="flat" cmpd="sng">
            <a:noFill/>
            <a:prstDash val="solid"/>
            <a:round/>
          </a:ln>
        </p:spPr>
        <p:txBody>
          <a:bodyPr vert="horz" wrap="square" lIns="63500" tIns="0" rIns="63500" bIns="0" rtlCol="0" anchor="t" anchorCtr="0"/>
          <a:lstStyle/>
          <a:p>
            <a:pPr indent="0" algn="ctr">
              <a:lnSpc>
                <a:spcPct val="125000"/>
              </a:lnSpc>
              <a:defRPr/>
            </a:pPr>
            <a:r>
              <a:rPr lang="en-US" sz="1200" b="1">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权限控制三层防护</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952500" y="111760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444500"/>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27200"/>
            <a:ext cx="4787900" cy="10375900"/>
          </a:xfrm>
          <a:prstGeom prst="rect">
            <a:avLst/>
          </a:prstGeom>
          <a:noFill/>
          <a:ln w="25400" cap="flat" cmpd="sng">
            <a:noFill/>
            <a:prstDash val="solid"/>
            <a:round/>
          </a:ln>
        </p:spPr>
      </p:pic>
      <p:pic>
        <p:nvPicPr>
          <p:cNvPr id="9" name="Picture 9"/>
          <p:cNvPicPr>
            <a:picLocks noChangeAspect="1"/>
          </p:cNvPicPr>
          <p:nvPr/>
        </p:nvPicPr>
        <p:blipFill>
          <a:blip r:embed="rId9"/>
          <a:srcRect/>
          <a:stretch>
            <a:fillRect/>
          </a:stretch>
        </p:blipFill>
        <p:spPr>
          <a:xfrm>
            <a:off x="7162800" y="50800"/>
            <a:ext cx="4356100" cy="6807200"/>
          </a:xfrm>
          <a:prstGeom prst="rect">
            <a:avLst/>
          </a:prstGeom>
          <a:noFill/>
          <a:ln w="25400" cap="flat" cmpd="sng">
            <a:noFill/>
            <a:prstDash val="solid"/>
            <a:round/>
          </a:ln>
        </p:spPr>
      </p:pic>
      <p:pic>
        <p:nvPicPr>
          <p:cNvPr id="10" name="Picture 10"/>
          <p:cNvPicPr>
            <a:picLocks noChangeAspect="1"/>
          </p:cNvPicPr>
          <p:nvPr/>
        </p:nvPicPr>
        <p:blipFill>
          <a:blip r:embed="rId10"/>
          <a:srcRect/>
          <a:stretch>
            <a:fillRect/>
          </a:stretch>
        </p:blipFill>
        <p:spPr>
          <a:xfrm>
            <a:off x="8331200" y="2120900"/>
            <a:ext cx="3441700" cy="4178300"/>
          </a:xfrm>
          <a:prstGeom prst="rect">
            <a:avLst/>
          </a:prstGeom>
          <a:noFill/>
          <a:ln w="25400" cap="flat" cmpd="sng">
            <a:noFill/>
            <a:prstDash val="solid"/>
            <a:round/>
          </a:ln>
        </p:spPr>
      </p:pic>
      <p:pic>
        <p:nvPicPr>
          <p:cNvPr id="11" name="Picture 11"/>
          <p:cNvPicPr>
            <a:picLocks noChangeAspect="1"/>
          </p:cNvPicPr>
          <p:nvPr/>
        </p:nvPicPr>
        <p:blipFill>
          <a:blip r:embed="rId11"/>
          <a:srcRect t="86704"/>
          <a:stretch>
            <a:fillRect/>
          </a:stretch>
        </p:blipFill>
        <p:spPr>
          <a:xfrm>
            <a:off x="-50800" y="4787900"/>
            <a:ext cx="12192000" cy="2070100"/>
          </a:xfrm>
          <a:prstGeom prst="rect">
            <a:avLst/>
          </a:prstGeom>
          <a:noFill/>
          <a:ln w="25400" cap="flat" cmpd="sng">
            <a:noFill/>
            <a:prstDash val="solid"/>
            <a:round/>
          </a:ln>
        </p:spPr>
      </p:pic>
      <p:sp>
        <p:nvSpPr>
          <p:cNvPr id="12" name="AutoShape 12"/>
          <p:cNvSpPr/>
          <p:nvPr/>
        </p:nvSpPr>
        <p:spPr>
          <a:xfrm>
            <a:off x="4140200" y="1612900"/>
            <a:ext cx="571500" cy="546100"/>
          </a:xfrm>
          <a:prstGeom prst="roundRect">
            <a:avLst>
              <a:gd name="adj" fmla="val 34883"/>
            </a:avLst>
          </a:prstGeom>
          <a:solidFill>
            <a:srgbClr val="F4E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102100" y="16002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14" name="AutoShape 14"/>
          <p:cNvSpPr/>
          <p:nvPr/>
        </p:nvSpPr>
        <p:spPr>
          <a:xfrm>
            <a:off x="1651000" y="1562100"/>
            <a:ext cx="2286000" cy="6477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PART</a:t>
            </a:r>
            <a:endParaRPr lang="en-US" sz="1100"/>
          </a:p>
        </p:txBody>
      </p:sp>
      <p:sp>
        <p:nvSpPr>
          <p:cNvPr id="15" name="AutoShape 15"/>
          <p:cNvSpPr/>
          <p:nvPr/>
        </p:nvSpPr>
        <p:spPr>
          <a:xfrm>
            <a:off x="1727200" y="2501900"/>
            <a:ext cx="7620000" cy="825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defRPr/>
            </a:pPr>
            <a:r>
              <a:rPr lang="en-US" sz="4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魔法成果：</a:t>
            </a:r>
            <a:r>
              <a:rPr lang="en-US" sz="4000" b="1">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总结与收获</a:t>
            </a:r>
            <a:endParaRPr lang="en-US" sz="1100"/>
          </a:p>
        </p:txBody>
      </p:sp>
      <p:sp>
        <p:nvSpPr>
          <p:cNvPr id="16" name="AutoShape 16"/>
          <p:cNvSpPr/>
          <p:nvPr/>
        </p:nvSpPr>
        <p:spPr>
          <a:xfrm>
            <a:off x="1130300" y="3289300"/>
            <a:ext cx="7620000" cy="11049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6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《图书管理系统》</a:t>
            </a:r>
            <a:endParaRPr lang="en-US" sz="1100"/>
          </a:p>
        </p:txBody>
      </p:sp>
      <p:sp>
        <p:nvSpPr>
          <p:cNvPr id="17" name="AutoShape 17"/>
          <p:cNvSpPr/>
          <p:nvPr/>
        </p:nvSpPr>
        <p:spPr>
          <a:xfrm>
            <a:off x="1028700" y="4635500"/>
            <a:ext cx="63500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25000"/>
              </a:lnSpc>
              <a:defRPr/>
            </a:pPr>
            <a:r>
              <a:rPr lang="en-US" sz="1800">
                <a:solidFill>
                  <a:srgbClr val="F5F5F5"/>
                </a:solidFill>
                <a:latin typeface="微软雅黑" panose="020B0503020204020204" charset="-122"/>
                <a:ea typeface="微软雅黑" panose="020B0503020204020204" charset="-122"/>
                <a:cs typeface="微软雅黑" panose="020B0503020204020204" charset="-122"/>
                <a:sym typeface="微软雅黑" panose="020B0503020204020204" charset="-122"/>
              </a:rPr>
              <a:t>回顾项目开发的全周期，我们从需求分析的迷雾中探索，历经设计与开发的重重挑战，最终构建出这个高效、智能的图书数字魔法世界。未来，我们将继续优化体验，探索更多可能性。</a:t>
            </a: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8" name="AutoShape 8"/>
          <p:cNvSpPr/>
          <p:nvPr/>
        </p:nvSpPr>
        <p:spPr>
          <a:xfrm>
            <a:off x="1778000" y="647700"/>
            <a:ext cx="762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0"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项目总结与收获</a:t>
            </a:r>
            <a:endParaRPr lang="en-US" sz="1100"/>
          </a:p>
        </p:txBody>
      </p:sp>
      <p:sp>
        <p:nvSpPr>
          <p:cNvPr id="9" name="Freeform 9"/>
          <p:cNvSpPr/>
          <p:nvPr/>
        </p:nvSpPr>
        <p:spPr>
          <a:xfrm rot="1799999">
            <a:off x="1303655" y="-1718310"/>
            <a:ext cx="9409071" cy="5915519"/>
          </a:xfrm>
          <a:custGeom>
            <a:avLst/>
            <a:gdLst/>
            <a:ahLst/>
            <a:cxnLst/>
            <a:rect l="l" t="t" r="r" b="b"/>
            <a:pathLst>
              <a:path w="9409071" h="5915519">
                <a:moveTo>
                  <a:pt x="0" y="5915519"/>
                </a:moveTo>
                <a:cubicBezTo>
                  <a:pt x="649121" y="5527567"/>
                  <a:pt x="1298246" y="5139616"/>
                  <a:pt x="1773842" y="5040441"/>
                </a:cubicBezTo>
                <a:cubicBezTo>
                  <a:pt x="2249437" y="4941266"/>
                  <a:pt x="2474380" y="5536317"/>
                  <a:pt x="2853571" y="5320466"/>
                </a:cubicBezTo>
                <a:cubicBezTo>
                  <a:pt x="3232762" y="5104614"/>
                  <a:pt x="3669795" y="3932011"/>
                  <a:pt x="4048986" y="3745328"/>
                </a:cubicBezTo>
                <a:cubicBezTo>
                  <a:pt x="4428176" y="3558645"/>
                  <a:pt x="4826648" y="4340379"/>
                  <a:pt x="5128715" y="4200369"/>
                </a:cubicBezTo>
                <a:cubicBezTo>
                  <a:pt x="5430783" y="4060358"/>
                  <a:pt x="5591454" y="3126941"/>
                  <a:pt x="5861388" y="2905255"/>
                </a:cubicBezTo>
                <a:cubicBezTo>
                  <a:pt x="6131321" y="2683570"/>
                  <a:pt x="6298423" y="3161942"/>
                  <a:pt x="6748309" y="2870251"/>
                </a:cubicBezTo>
                <a:cubicBezTo>
                  <a:pt x="7198195" y="2578558"/>
                  <a:pt x="8117252" y="1633474"/>
                  <a:pt x="8560711" y="1155099"/>
                </a:cubicBezTo>
                <a:cubicBezTo>
                  <a:pt x="9004169" y="676725"/>
                  <a:pt x="9206619" y="338361"/>
                  <a:pt x="9409071" y="0"/>
                </a:cubicBezTo>
              </a:path>
            </a:pathLst>
          </a:custGeom>
          <a:noFill/>
          <a:ln w="38100" cap="flat" cmpd="sng">
            <a:solidFill>
              <a:srgbClr val="A28EB7">
                <a:alpha val="100000"/>
              </a:srgbClr>
            </a:solidFill>
            <a:prstDash val="solid"/>
            <a:miter lim="10000000"/>
          </a:ln>
        </p:spPr>
        <p:txBody>
          <a:bodyPr vert="horz" wrap="square" lIns="63500" tIns="63500" rIns="63500" bIns="63500" rtlCol="0" anchor="ctr"/>
          <a:lstStyle/>
          <a:p>
            <a:pPr algn="ctr">
              <a:defRPr/>
            </a:pPr>
          </a:p>
        </p:txBody>
      </p:sp>
      <p:sp>
        <p:nvSpPr>
          <p:cNvPr id="10" name="AutoShape 10"/>
          <p:cNvSpPr/>
          <p:nvPr/>
        </p:nvSpPr>
        <p:spPr>
          <a:xfrm>
            <a:off x="1778000" y="2032000"/>
            <a:ext cx="762000" cy="762000"/>
          </a:xfrm>
          <a:prstGeom prst="ellipse">
            <a:avLst/>
          </a:prstGeom>
          <a:solidFill>
            <a:srgbClr val="F0EBFF">
              <a:alpha val="100000"/>
            </a:srgbClr>
          </a:solidFill>
          <a:ln w="25400" cap="flat" cmpd="sng">
            <a:solidFill>
              <a:srgbClr val="6A529C">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5800" y="2209800"/>
            <a:ext cx="406400" cy="406400"/>
          </a:xfrm>
          <a:prstGeom prst="rect">
            <a:avLst/>
          </a:prstGeom>
        </p:spPr>
      </p:pic>
      <p:sp>
        <p:nvSpPr>
          <p:cNvPr id="12" name="AutoShape 12"/>
          <p:cNvSpPr/>
          <p:nvPr/>
        </p:nvSpPr>
        <p:spPr>
          <a:xfrm>
            <a:off x="1778000" y="2921000"/>
            <a:ext cx="2540000" cy="38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1">
                <a:solidFill>
                  <a:srgbClr val="6A529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踩过的坑</a:t>
            </a:r>
            <a:endParaRPr lang="en-US" sz="2000"/>
          </a:p>
        </p:txBody>
      </p:sp>
      <p:sp>
        <p:nvSpPr>
          <p:cNvPr id="13" name="AutoShape 13"/>
          <p:cNvSpPr/>
          <p:nvPr/>
        </p:nvSpPr>
        <p:spPr>
          <a:xfrm>
            <a:off x="1066800" y="3224530"/>
            <a:ext cx="3836670" cy="2714625"/>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endParaRPr lang="en-US"/>
          </a:p>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1. 前后端连不上：前端发请求，后端收不到，最后发现是接口路径写错了。</a:t>
            </a:r>
            <a:endParaRPr lang="en-US" sz="18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2. 数据库连不上：驱动版本不对，或者账号密码写错了，折腾了好久才连上。</a:t>
            </a:r>
            <a:endParaRPr lang="en-US" sz="18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3. 权限控制没做好：普通用户也能删书，后来加了Session判断才解决。</a:t>
            </a:r>
            <a:endParaRPr lang="en-US" sz="1800"/>
          </a:p>
        </p:txBody>
      </p:sp>
      <p:sp>
        <p:nvSpPr>
          <p:cNvPr id="16" name="AutoShape 16"/>
          <p:cNvSpPr/>
          <p:nvPr/>
        </p:nvSpPr>
        <p:spPr>
          <a:xfrm>
            <a:off x="4826000" y="2921000"/>
            <a:ext cx="2540000" cy="38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endParaRPr lang="en-US" sz="1100"/>
          </a:p>
        </p:txBody>
      </p:sp>
      <p:sp>
        <p:nvSpPr>
          <p:cNvPr id="17" name="AutoShape 17"/>
          <p:cNvSpPr/>
          <p:nvPr/>
        </p:nvSpPr>
        <p:spPr>
          <a:xfrm>
            <a:off x="4826000" y="3429000"/>
            <a:ext cx="2794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endParaRPr lang="en-US" sz="1100"/>
          </a:p>
        </p:txBody>
      </p:sp>
      <p:sp>
        <p:nvSpPr>
          <p:cNvPr id="18" name="AutoShape 18"/>
          <p:cNvSpPr/>
          <p:nvPr/>
        </p:nvSpPr>
        <p:spPr>
          <a:xfrm>
            <a:off x="7874000" y="2032000"/>
            <a:ext cx="762000" cy="762000"/>
          </a:xfrm>
          <a:prstGeom prst="ellipse">
            <a:avLst/>
          </a:prstGeom>
          <a:solidFill>
            <a:srgbClr val="F0EBFF">
              <a:alpha val="100000"/>
            </a:srgbClr>
          </a:solidFill>
          <a:ln w="25400" cap="flat" cmpd="sng">
            <a:solidFill>
              <a:srgbClr val="6A529C">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51800" y="2209800"/>
            <a:ext cx="406400" cy="406400"/>
          </a:xfrm>
          <a:prstGeom prst="rect">
            <a:avLst/>
          </a:prstGeom>
        </p:spPr>
      </p:pic>
      <p:sp>
        <p:nvSpPr>
          <p:cNvPr id="20" name="AutoShape 20"/>
          <p:cNvSpPr/>
          <p:nvPr/>
        </p:nvSpPr>
        <p:spPr>
          <a:xfrm>
            <a:off x="7874000" y="2921000"/>
            <a:ext cx="2540000" cy="38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1">
                <a:solidFill>
                  <a:srgbClr val="6A529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学到了什么</a:t>
            </a:r>
            <a:endParaRPr lang="en-US" sz="2000"/>
          </a:p>
        </p:txBody>
      </p:sp>
      <p:sp>
        <p:nvSpPr>
          <p:cNvPr id="21" name="AutoShape 21"/>
          <p:cNvSpPr/>
          <p:nvPr/>
        </p:nvSpPr>
        <p:spPr>
          <a:xfrm>
            <a:off x="6967220" y="3429000"/>
            <a:ext cx="4681855" cy="2129155"/>
          </a:xfrm>
          <a:prstGeom prst="rect">
            <a:avLst/>
          </a:prstGeom>
          <a:noFill/>
          <a:ln w="12700" cap="flat" cmpd="sng">
            <a:noFill/>
            <a:prstDash val="solid"/>
            <a:round/>
          </a:ln>
        </p:spPr>
        <p:txBody>
          <a:bodyPr vert="horz" wrap="square" lIns="0" tIns="0" rIns="0" bIns="0" rtlCol="0" anchor="t" anchorCtr="0"/>
          <a:lstStyle/>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1. 搞懂了Web开发流程：终于明白前端、后端、数据库是怎么配合工作的。</a:t>
            </a:r>
            <a:endParaRPr lang="en-US" sz="18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2. 学会了写接口：学会了写简单的接口，处理请求和返回数据。</a:t>
            </a:r>
            <a:endParaRPr lang="en-US" sz="18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80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3. 知道了项目规范的重要性：知道了权限控制、数据校验这些东西在实际项目里有多重要。</a:t>
            </a:r>
            <a:endParaRPr 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8" name="AutoShape 8"/>
          <p:cNvSpPr/>
          <p:nvPr/>
        </p:nvSpPr>
        <p:spPr>
          <a:xfrm>
            <a:off x="1778000" y="647700"/>
            <a:ext cx="381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0"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未来展望与规划</a:t>
            </a:r>
            <a:endParaRPr lang="en-US" sz="1100"/>
          </a:p>
        </p:txBody>
      </p:sp>
      <p:sp>
        <p:nvSpPr>
          <p:cNvPr id="9" name="AutoShape 9"/>
          <p:cNvSpPr/>
          <p:nvPr/>
        </p:nvSpPr>
        <p:spPr>
          <a:xfrm>
            <a:off x="1066800" y="1600200"/>
            <a:ext cx="3810000" cy="4318000"/>
          </a:xfrm>
          <a:prstGeom prst="roundRect">
            <a:avLst>
              <a:gd name="adj" fmla="val 3333"/>
            </a:avLst>
          </a:prstGeom>
          <a:solidFill>
            <a:srgbClr val="F5F6FA">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09800" y="2743200"/>
            <a:ext cx="1524000" cy="1524000"/>
          </a:xfrm>
          <a:prstGeom prst="rect">
            <a:avLst/>
          </a:prstGeom>
        </p:spPr>
      </p:pic>
      <p:sp>
        <p:nvSpPr>
          <p:cNvPr id="11" name="AutoShape 11"/>
          <p:cNvSpPr/>
          <p:nvPr/>
        </p:nvSpPr>
        <p:spPr>
          <a:xfrm>
            <a:off x="1320800" y="4445000"/>
            <a:ext cx="3302000" cy="508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4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构建智慧图书馆生态体系</a:t>
            </a:r>
            <a:endParaRPr lang="en-US" sz="1100"/>
          </a:p>
        </p:txBody>
      </p:sp>
      <p:sp>
        <p:nvSpPr>
          <p:cNvPr id="12" name="AutoShape 12"/>
          <p:cNvSpPr/>
          <p:nvPr/>
        </p:nvSpPr>
        <p:spPr>
          <a:xfrm>
            <a:off x="5516880" y="1438910"/>
            <a:ext cx="5659120" cy="5003165"/>
          </a:xfrm>
          <a:prstGeom prst="roundRect">
            <a:avLst>
              <a:gd name="adj" fmla="val 2941"/>
            </a:avLst>
          </a:prstGeom>
          <a:solidFill>
            <a:srgbClr val="F9FAFB">
              <a:alpha val="80000"/>
            </a:srgbClr>
          </a:solidFill>
          <a:ln w="12700" cap="flat" cmpd="sng">
            <a:solidFill>
              <a:srgbClr val="6A529C">
                <a:alpha val="1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15000" y="1854200"/>
            <a:ext cx="304800" cy="304800"/>
          </a:xfrm>
          <a:prstGeom prst="rect">
            <a:avLst/>
          </a:prstGeom>
        </p:spPr>
      </p:pic>
      <p:sp>
        <p:nvSpPr>
          <p:cNvPr id="14" name="AutoShape 14"/>
          <p:cNvSpPr/>
          <p:nvPr/>
        </p:nvSpPr>
        <p:spPr>
          <a:xfrm>
            <a:off x="6146800" y="1816100"/>
            <a:ext cx="5080000" cy="381000"/>
          </a:xfrm>
          <a:prstGeom prst="rect">
            <a:avLst/>
          </a:prstGeom>
          <a:noFill/>
          <a:ln w="12700" cap="flat" cmpd="sng">
            <a:noFill/>
            <a:prstDash val="solid"/>
            <a:round/>
          </a:ln>
        </p:spPr>
        <p:txBody>
          <a:bodyPr vert="horz" wrap="square" lIns="50800" tIns="25400" rIns="50800" bIns="25400" rtlCol="0" anchor="t"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智能化全面升级</a:t>
            </a:r>
            <a:endParaRPr lang="en-US" sz="1100"/>
          </a:p>
        </p:txBody>
      </p:sp>
      <p:sp>
        <p:nvSpPr>
          <p:cNvPr id="15" name="AutoShape 15"/>
          <p:cNvSpPr/>
          <p:nvPr/>
        </p:nvSpPr>
        <p:spPr>
          <a:xfrm>
            <a:off x="5715000" y="2159000"/>
            <a:ext cx="5080000" cy="977265"/>
          </a:xfrm>
          <a:prstGeom prst="rect">
            <a:avLst/>
          </a:prstGeom>
          <a:noFill/>
          <a:ln w="12700" cap="flat" cmpd="sng">
            <a:noFill/>
            <a:prstDash val="solid"/>
            <a:round/>
          </a:ln>
        </p:spPr>
        <p:txBody>
          <a:bodyPr vert="horz" wrap="square" lIns="50800" tIns="25400" rIns="50800" bIns="101600" rtlCol="0" anchor="t" anchorCtr="0"/>
          <a:lstStyle/>
          <a:p>
            <a:pPr indent="0" algn="just">
              <a:lnSpc>
                <a:spcPct val="108000"/>
              </a:lnSpc>
              <a:defRPr/>
            </a:pPr>
            <a:r>
              <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引入大数据分析引擎，为图书采购提供精准决策支持；构建用户画像体系，实现基于阅读偏好的个性化图书推荐，让图书馆真正“懂”读者。</a:t>
            </a:r>
            <a:endParaRPr lang="en-US" sz="1800"/>
          </a:p>
        </p:txBody>
      </p:sp>
      <p:cxnSp>
        <p:nvCxnSpPr>
          <p:cNvPr id="16" name="Connector 16"/>
          <p:cNvCxnSpPr/>
          <p:nvPr/>
        </p:nvCxnSpPr>
        <p:spPr>
          <a:xfrm rot="-8185">
            <a:off x="5715008" y="3105150"/>
            <a:ext cx="5334000" cy="12700"/>
          </a:xfrm>
          <a:prstGeom prst="straightConnector1">
            <a:avLst/>
          </a:prstGeom>
          <a:solidFill>
            <a:srgbClr val="DEE0E3">
              <a:alpha val="100000"/>
            </a:srgbClr>
          </a:solidFill>
          <a:ln w="12700" cap="flat" cmpd="sng">
            <a:solidFill>
              <a:srgbClr val="C8C8C8">
                <a:alpha val="50000"/>
              </a:srgbClr>
            </a:solidFill>
            <a:prstDash val="dash"/>
            <a:round/>
            <a:headEnd type="none" w="med" len="med"/>
            <a:tailEnd type="none" w="med" len="med"/>
          </a:ln>
        </p:spPr>
      </p:cxn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56580" y="3136265"/>
            <a:ext cx="304800" cy="304800"/>
          </a:xfrm>
          <a:prstGeom prst="rect">
            <a:avLst/>
          </a:prstGeom>
        </p:spPr>
      </p:pic>
      <p:sp>
        <p:nvSpPr>
          <p:cNvPr id="18" name="AutoShape 18"/>
          <p:cNvSpPr/>
          <p:nvPr/>
        </p:nvSpPr>
        <p:spPr>
          <a:xfrm>
            <a:off x="6019800" y="3238500"/>
            <a:ext cx="5080000" cy="381000"/>
          </a:xfrm>
          <a:prstGeom prst="rect">
            <a:avLst/>
          </a:prstGeom>
          <a:noFill/>
          <a:ln w="12700" cap="flat" cmpd="sng">
            <a:noFill/>
            <a:prstDash val="solid"/>
            <a:round/>
          </a:ln>
        </p:spPr>
        <p:txBody>
          <a:bodyPr vert="horz" wrap="square" lIns="50800" tIns="25400" rIns="50800" bIns="25400" rtlCol="0" anchor="t"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技术架构微服务化演进</a:t>
            </a:r>
            <a:endParaRPr lang="en-US" sz="1100"/>
          </a:p>
        </p:txBody>
      </p:sp>
      <p:sp>
        <p:nvSpPr>
          <p:cNvPr id="19" name="AutoShape 19"/>
          <p:cNvSpPr/>
          <p:nvPr/>
        </p:nvSpPr>
        <p:spPr>
          <a:xfrm>
            <a:off x="5765800" y="3619500"/>
            <a:ext cx="5080000" cy="977265"/>
          </a:xfrm>
          <a:prstGeom prst="rect">
            <a:avLst/>
          </a:prstGeom>
          <a:noFill/>
          <a:ln w="12700" cap="flat" cmpd="sng">
            <a:noFill/>
            <a:prstDash val="solid"/>
            <a:round/>
          </a:ln>
        </p:spPr>
        <p:txBody>
          <a:bodyPr vert="horz" wrap="square" lIns="50800" tIns="25400" rIns="50800" bIns="101600" rtlCol="0" anchor="t" anchorCtr="0"/>
          <a:lstStyle/>
          <a:p>
            <a:pPr indent="0" algn="just">
              <a:lnSpc>
                <a:spcPct val="108000"/>
              </a:lnSpc>
              <a:defRPr/>
            </a:pPr>
            <a:r>
              <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重构现有单体应用，探索微服务架构模式。将系统拆解为用户、资源、借阅等独立模块，显著提升系统的弹性扩展能力和后期维护效率。</a:t>
            </a:r>
            <a:endParaRPr lang="en-US" sz="1800"/>
          </a:p>
        </p:txBody>
      </p:sp>
      <p:cxnSp>
        <p:nvCxnSpPr>
          <p:cNvPr id="20" name="Connector 20"/>
          <p:cNvCxnSpPr/>
          <p:nvPr/>
        </p:nvCxnSpPr>
        <p:spPr>
          <a:xfrm rot="-8185">
            <a:off x="5715008" y="4629150"/>
            <a:ext cx="5334000" cy="12700"/>
          </a:xfrm>
          <a:prstGeom prst="straightConnector1">
            <a:avLst/>
          </a:prstGeom>
          <a:solidFill>
            <a:srgbClr val="DEE0E3">
              <a:alpha val="100000"/>
            </a:srgbClr>
          </a:solidFill>
          <a:ln w="12700" cap="flat" cmpd="sng">
            <a:solidFill>
              <a:srgbClr val="C8C8C8">
                <a:alpha val="50000"/>
              </a:srgbClr>
            </a:solidFill>
            <a:prstDash val="dash"/>
            <a:round/>
            <a:headEnd type="none" w="med" len="med"/>
            <a:tailEnd type="none" w="med" len="med"/>
          </a:ln>
        </p:spPr>
      </p:cxn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56580" y="4648200"/>
            <a:ext cx="304800" cy="304800"/>
          </a:xfrm>
          <a:prstGeom prst="rect">
            <a:avLst/>
          </a:prstGeom>
        </p:spPr>
      </p:pic>
      <p:sp>
        <p:nvSpPr>
          <p:cNvPr id="22" name="AutoShape 22"/>
          <p:cNvSpPr/>
          <p:nvPr/>
        </p:nvSpPr>
        <p:spPr>
          <a:xfrm>
            <a:off x="5939155" y="4648200"/>
            <a:ext cx="4572635" cy="381000"/>
          </a:xfrm>
          <a:prstGeom prst="rect">
            <a:avLst/>
          </a:prstGeom>
          <a:noFill/>
          <a:ln w="12700" cap="flat" cmpd="sng">
            <a:noFill/>
            <a:prstDash val="solid"/>
            <a:round/>
          </a:ln>
        </p:spPr>
        <p:txBody>
          <a:bodyPr vert="horz" wrap="square" lIns="50800" tIns="25400" rIns="50800" bIns="25400" rtlCol="0" anchor="t"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全场景用户体验优化</a:t>
            </a:r>
            <a:endParaRPr lang="en-US" sz="1100"/>
          </a:p>
        </p:txBody>
      </p:sp>
      <p:sp>
        <p:nvSpPr>
          <p:cNvPr id="23" name="AutoShape 23"/>
          <p:cNvSpPr/>
          <p:nvPr/>
        </p:nvSpPr>
        <p:spPr>
          <a:xfrm>
            <a:off x="5765800" y="4953000"/>
            <a:ext cx="5020945" cy="1489075"/>
          </a:xfrm>
          <a:prstGeom prst="rect">
            <a:avLst/>
          </a:prstGeom>
          <a:noFill/>
          <a:ln w="12700" cap="flat" cmpd="sng">
            <a:noFill/>
            <a:prstDash val="solid"/>
            <a:round/>
          </a:ln>
        </p:spPr>
        <p:txBody>
          <a:bodyPr vert="horz" wrap="square" lIns="50800" tIns="25400" rIns="50800" bIns="101600" rtlCol="0" anchor="t" anchorCtr="0"/>
          <a:lstStyle/>
          <a:p>
            <a:pPr indent="0" algn="l">
              <a:lnSpc>
                <a:spcPct val="108000"/>
              </a:lnSpc>
              <a:defRPr/>
            </a:pPr>
            <a:r>
              <a:rPr lang="en-US" sz="1800" b="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移动端适配:</a:t>
            </a:r>
            <a:r>
              <a:rPr lang="en-US" sz="180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优化移动端访问体验，确保在手机和平板上流畅使用。</a:t>
            </a:r>
            <a:endParaRPr lang="en-US" sz="1800"/>
          </a:p>
          <a:p>
            <a:pPr indent="0" algn="l">
              <a:lnSpc>
                <a:spcPct val="108000"/>
              </a:lnSpc>
            </a:pPr>
            <a:r>
              <a:rPr lang="en-US" sz="1800" b="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交互流程简化:</a:t>
            </a:r>
            <a:r>
              <a:rPr lang="en-US" sz="180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简化借还书等核心操作，减少用户点击次数。</a:t>
            </a:r>
            <a:endParaRPr lang="en-US" sz="18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800" b="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界面设计升级:</a:t>
            </a:r>
            <a:r>
              <a:rPr lang="en-US" sz="180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采用现代化UI设计，提升视觉体验。</a:t>
            </a:r>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66700" y="228600"/>
            <a:ext cx="11658600" cy="6413500"/>
          </a:xfrm>
          <a:prstGeom prst="roundRect">
            <a:avLst>
              <a:gd name="adj" fmla="val 4356"/>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2"/>
          <a:srcRect/>
          <a:stretch>
            <a:fillRect/>
          </a:stretch>
        </p:blipFill>
        <p:spPr>
          <a:xfrm>
            <a:off x="9017000" y="0"/>
            <a:ext cx="3175000" cy="68580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a:off x="0" y="0"/>
            <a:ext cx="3175000" cy="685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sp>
        <p:nvSpPr>
          <p:cNvPr id="6" name="AutoShape 6"/>
          <p:cNvSpPr/>
          <p:nvPr/>
        </p:nvSpPr>
        <p:spPr>
          <a:xfrm>
            <a:off x="1066800" y="647700"/>
            <a:ext cx="571500" cy="546100"/>
          </a:xfrm>
          <a:prstGeom prst="roundRect">
            <a:avLst>
              <a:gd name="adj" fmla="val 34883"/>
            </a:avLst>
          </a:prstGeom>
          <a:solidFill>
            <a:srgbClr val="6A52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622300"/>
            <a:ext cx="660400" cy="5842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8" name="AutoShape 8"/>
          <p:cNvSpPr/>
          <p:nvPr/>
        </p:nvSpPr>
        <p:spPr>
          <a:xfrm>
            <a:off x="1778000" y="647700"/>
            <a:ext cx="5080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800" b="1" i="0" u="none" strike="noStrike">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成果交付清单</a:t>
            </a:r>
            <a:endParaRPr lang="en-US" sz="1100"/>
          </a:p>
        </p:txBody>
      </p:sp>
      <p:pic>
        <p:nvPicPr>
          <p:cNvPr id="9" name="Picture 9"/>
          <p:cNvPicPr>
            <a:picLocks noChangeAspect="1"/>
          </p:cNvPicPr>
          <p:nvPr/>
        </p:nvPicPr>
        <p:blipFill>
          <a:blip r:embed="rId5"/>
          <a:srcRect/>
          <a:stretch>
            <a:fillRect/>
          </a:stretch>
        </p:blipFill>
        <p:spPr>
          <a:xfrm>
            <a:off x="1816100" y="1727200"/>
            <a:ext cx="901700" cy="762000"/>
          </a:xfrm>
          <a:prstGeom prst="rect">
            <a:avLst/>
          </a:prstGeom>
          <a:noFill/>
          <a:ln w="25400" cap="flat" cmpd="sng">
            <a:noFill/>
            <a:prstDash val="solid"/>
            <a:round/>
          </a:ln>
        </p:spPr>
      </p:pic>
      <p:sp>
        <p:nvSpPr>
          <p:cNvPr id="10" name="AutoShape 10"/>
          <p:cNvSpPr/>
          <p:nvPr/>
        </p:nvSpPr>
        <p:spPr>
          <a:xfrm>
            <a:off x="2120900" y="2019300"/>
            <a:ext cx="482600" cy="3683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6A529C"/>
                </a:solidFill>
                <a:latin typeface="Bodoni MT Black" panose="02070A03080606020203"/>
                <a:ea typeface="Bodoni MT Black" panose="02070A03080606020203"/>
                <a:cs typeface="Bodoni MT Black" panose="02070A03080606020203"/>
                <a:sym typeface="Bodoni MT Black" panose="02070A03080606020203"/>
              </a:rPr>
              <a:t>01</a:t>
            </a:r>
            <a:endParaRPr lang="en-US" sz="1100"/>
          </a:p>
        </p:txBody>
      </p:sp>
      <p:sp>
        <p:nvSpPr>
          <p:cNvPr id="11" name="AutoShape 11"/>
          <p:cNvSpPr/>
          <p:nvPr/>
        </p:nvSpPr>
        <p:spPr>
          <a:xfrm>
            <a:off x="2921000" y="1651000"/>
            <a:ext cx="7620000" cy="952500"/>
          </a:xfrm>
          <a:prstGeom prst="roundRect">
            <a:avLst>
              <a:gd name="adj" fmla="val 13333"/>
            </a:avLst>
          </a:prstGeom>
          <a:solidFill>
            <a:srgbClr val="F8F7FC">
              <a:alpha val="100000"/>
            </a:srgbClr>
          </a:solidFill>
          <a:ln w="12700" cap="flat" cmpd="sng">
            <a:solidFill>
              <a:srgbClr val="E1DE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175000" y="1752600"/>
            <a:ext cx="7112000" cy="825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系统源码交付</a:t>
            </a:r>
            <a:endParaRPr lang="en-US" sz="1100"/>
          </a:p>
          <a:p>
            <a:pPr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包含完整项目工程文件及环境配置说明，代码规范整洁，可在本地或服务器一键启动运行。</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3" name="Picture 13"/>
          <p:cNvPicPr>
            <a:picLocks noChangeAspect="1"/>
          </p:cNvPicPr>
          <p:nvPr/>
        </p:nvPicPr>
        <p:blipFill>
          <a:blip r:embed="rId5"/>
          <a:srcRect/>
          <a:stretch>
            <a:fillRect/>
          </a:stretch>
        </p:blipFill>
        <p:spPr>
          <a:xfrm>
            <a:off x="1816100" y="2997200"/>
            <a:ext cx="901700" cy="762000"/>
          </a:xfrm>
          <a:prstGeom prst="rect">
            <a:avLst/>
          </a:prstGeom>
          <a:noFill/>
          <a:ln w="25400" cap="flat" cmpd="sng">
            <a:noFill/>
            <a:prstDash val="solid"/>
            <a:round/>
          </a:ln>
        </p:spPr>
      </p:pic>
      <p:sp>
        <p:nvSpPr>
          <p:cNvPr id="14" name="AutoShape 14"/>
          <p:cNvSpPr/>
          <p:nvPr/>
        </p:nvSpPr>
        <p:spPr>
          <a:xfrm>
            <a:off x="2120900" y="3289300"/>
            <a:ext cx="482600" cy="3683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6A529C"/>
                </a:solidFill>
                <a:latin typeface="Bodoni MT Black" panose="02070A03080606020203"/>
                <a:ea typeface="Bodoni MT Black" panose="02070A03080606020203"/>
                <a:cs typeface="Bodoni MT Black" panose="02070A03080606020203"/>
                <a:sym typeface="Bodoni MT Black" panose="02070A03080606020203"/>
              </a:rPr>
              <a:t>02</a:t>
            </a:r>
            <a:endParaRPr lang="en-US" sz="1100"/>
          </a:p>
        </p:txBody>
      </p:sp>
      <p:sp>
        <p:nvSpPr>
          <p:cNvPr id="15" name="AutoShape 15"/>
          <p:cNvSpPr/>
          <p:nvPr/>
        </p:nvSpPr>
        <p:spPr>
          <a:xfrm>
            <a:off x="2921000" y="2921000"/>
            <a:ext cx="7620000" cy="952500"/>
          </a:xfrm>
          <a:prstGeom prst="roundRect">
            <a:avLst>
              <a:gd name="adj" fmla="val 13333"/>
            </a:avLst>
          </a:prstGeom>
          <a:solidFill>
            <a:srgbClr val="F8F7FC">
              <a:alpha val="100000"/>
            </a:srgbClr>
          </a:solidFill>
          <a:ln w="12700" cap="flat" cmpd="sng">
            <a:solidFill>
              <a:srgbClr val="E1DE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3175000" y="3022600"/>
            <a:ext cx="7112000" cy="825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核心代码与UI界面实录</a:t>
            </a:r>
            <a:endParaRPr lang="en-US" sz="1100"/>
          </a:p>
          <a:p>
            <a:pPr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展示前端核心逻辑实现代码和系统关键功能界面截图，直观记录系统的设计细节与实现效果。</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Picture 17"/>
          <p:cNvPicPr>
            <a:picLocks noChangeAspect="1"/>
          </p:cNvPicPr>
          <p:nvPr/>
        </p:nvPicPr>
        <p:blipFill>
          <a:blip r:embed="rId5"/>
          <a:srcRect/>
          <a:stretch>
            <a:fillRect/>
          </a:stretch>
        </p:blipFill>
        <p:spPr>
          <a:xfrm>
            <a:off x="1816100" y="4267200"/>
            <a:ext cx="901700" cy="762000"/>
          </a:xfrm>
          <a:prstGeom prst="rect">
            <a:avLst/>
          </a:prstGeom>
          <a:noFill/>
          <a:ln w="25400" cap="flat" cmpd="sng">
            <a:noFill/>
            <a:prstDash val="solid"/>
            <a:round/>
          </a:ln>
        </p:spPr>
      </p:pic>
      <p:sp>
        <p:nvSpPr>
          <p:cNvPr id="18" name="AutoShape 18"/>
          <p:cNvSpPr/>
          <p:nvPr/>
        </p:nvSpPr>
        <p:spPr>
          <a:xfrm>
            <a:off x="2120900" y="4559300"/>
            <a:ext cx="482600" cy="3683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6A529C"/>
                </a:solidFill>
                <a:latin typeface="Bodoni MT Black" panose="02070A03080606020203"/>
                <a:ea typeface="Bodoni MT Black" panose="02070A03080606020203"/>
                <a:cs typeface="Bodoni MT Black" panose="02070A03080606020203"/>
                <a:sym typeface="Bodoni MT Black" panose="02070A03080606020203"/>
              </a:rPr>
              <a:t>03</a:t>
            </a:r>
            <a:endParaRPr lang="en-US" sz="1100"/>
          </a:p>
        </p:txBody>
      </p:sp>
      <p:sp>
        <p:nvSpPr>
          <p:cNvPr id="19" name="AutoShape 19"/>
          <p:cNvSpPr/>
          <p:nvPr/>
        </p:nvSpPr>
        <p:spPr>
          <a:xfrm>
            <a:off x="2921000" y="4191000"/>
            <a:ext cx="7620000" cy="952500"/>
          </a:xfrm>
          <a:prstGeom prst="roundRect">
            <a:avLst>
              <a:gd name="adj" fmla="val 13333"/>
            </a:avLst>
          </a:prstGeom>
          <a:solidFill>
            <a:srgbClr val="F8F7FC">
              <a:alpha val="100000"/>
            </a:srgbClr>
          </a:solidFill>
          <a:ln w="12700" cap="flat" cmpd="sng">
            <a:solidFill>
              <a:srgbClr val="E1DEE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175000" y="4292600"/>
            <a:ext cx="7112000" cy="825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全套项目设计文档</a:t>
            </a:r>
            <a:endParaRPr lang="en-US" sz="1100"/>
          </a:p>
          <a:p>
            <a:pPr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包含完整的需求分析说明书、系统功能设计说明及数据库设计手册，是整个项目构建的完整指南。</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5"/>
          <a:srcRect/>
          <a:stretch>
            <a:fillRect/>
          </a:stretch>
        </p:blipFill>
        <p:spPr>
          <a:xfrm>
            <a:off x="1816100" y="5461000"/>
            <a:ext cx="901700" cy="762000"/>
          </a:xfrm>
          <a:prstGeom prst="rect">
            <a:avLst/>
          </a:prstGeom>
          <a:noFill/>
          <a:ln w="25400" cap="flat" cmpd="sng">
            <a:noFill/>
            <a:prstDash val="solid"/>
            <a:round/>
          </a:ln>
        </p:spPr>
      </p:pic>
      <p:sp>
        <p:nvSpPr>
          <p:cNvPr id="22" name="AutoShape 22"/>
          <p:cNvSpPr/>
          <p:nvPr/>
        </p:nvSpPr>
        <p:spPr>
          <a:xfrm>
            <a:off x="2120900" y="5753100"/>
            <a:ext cx="482600" cy="3683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6A529C"/>
                </a:solidFill>
                <a:latin typeface="Bodoni MT Black" panose="02070A03080606020203"/>
                <a:ea typeface="Bodoni MT Black" panose="02070A03080606020203"/>
                <a:cs typeface="Bodoni MT Black" panose="02070A03080606020203"/>
                <a:sym typeface="Bodoni MT Black" panose="02070A03080606020203"/>
              </a:rPr>
              <a:t>04</a:t>
            </a:r>
            <a:endParaRPr lang="en-US" sz="1100"/>
          </a:p>
        </p:txBody>
      </p:sp>
      <p:sp>
        <p:nvSpPr>
          <p:cNvPr id="23" name="AutoShape 23"/>
          <p:cNvSpPr/>
          <p:nvPr/>
        </p:nvSpPr>
        <p:spPr>
          <a:xfrm>
            <a:off x="2921000" y="5435600"/>
            <a:ext cx="7620000" cy="762000"/>
          </a:xfrm>
          <a:prstGeom prst="roundRect">
            <a:avLst>
              <a:gd name="adj" fmla="val 16666"/>
            </a:avLst>
          </a:prstGeom>
          <a:solidFill>
            <a:srgbClr val="F8F7FC">
              <a:alpha val="100000"/>
            </a:srgbClr>
          </a:solidFill>
          <a:ln w="12700" cap="flat" cmpd="sng">
            <a:solidFill>
              <a:srgbClr val="E1DEEB">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3175000" y="5499100"/>
            <a:ext cx="7112000" cy="635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6A529C"/>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成果演示汇报</a:t>
            </a:r>
            <a:endParaRPr lang="en-US" sz="1100"/>
          </a:p>
          <a:p>
            <a:pPr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准备了5-10分钟的系统核心功能演示，</a:t>
            </a:r>
            <a:r>
              <a:rPr lang="zh-CN" alt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以及视频成果展示</a:t>
            </a: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视频成果展示">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136650" y="792480"/>
            <a:ext cx="9918700" cy="5645785"/>
          </a:xfrm>
          <a:prstGeom prst="rect">
            <a:avLst/>
          </a:prstGeom>
        </p:spPr>
      </p:pic>
      <p:sp>
        <p:nvSpPr>
          <p:cNvPr id="2" name="文本框 1"/>
          <p:cNvSpPr txBox="1"/>
          <p:nvPr/>
        </p:nvSpPr>
        <p:spPr>
          <a:xfrm>
            <a:off x="1287780" y="158115"/>
            <a:ext cx="3082290" cy="521970"/>
          </a:xfrm>
          <a:prstGeom prst="rect">
            <a:avLst/>
          </a:prstGeom>
          <a:noFill/>
        </p:spPr>
        <p:txBody>
          <a:bodyPr wrap="square" rtlCol="0">
            <a:spAutoFit/>
          </a:bodyPr>
          <a:p>
            <a:r>
              <a:rPr lang="zh-CN" altLang="en-US" sz="28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视频</a:t>
            </a:r>
            <a:r>
              <a:rPr lang="en-US" sz="28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成果</a:t>
            </a:r>
            <a:r>
              <a:rPr lang="zh-CN" altLang="en-US" sz="28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展示</a:t>
            </a:r>
            <a:endParaRPr lang="zh-CN" altLang="en-US" sz="2800" b="1">
              <a:solidFill>
                <a:srgbClr val="40404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timing>
    <p:tnLst>
      <p:par>
        <p:cTn id="1" dur="indefinite" restart="never" nodeType="tmRoot">
          <p:childTnLst>
            <p:video fullScrn="0">
              <p:cMediaNode>
                <p:cTn id="2" fill="hold" display="1">
                  <p:stCondLst>
                    <p:cond delay="indefinite"/>
                  </p:stCondLst>
                  <p:endCondLst>
                    <p:cond evt="onNext">
                      <p:tgtEl>
                        <p:sldTgt/>
                      </p:tgtEl>
                    </p:cond>
                    <p:cond evt="onPrev">
                      <p:tgtEl>
                        <p:sldTgt/>
                      </p:tgtEl>
                    </p:cond>
                  </p:end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952500" y="1117600"/>
            <a:ext cx="11239500" cy="6324600"/>
          </a:xfrm>
          <a:prstGeom prst="rect">
            <a:avLst/>
          </a:prstGeom>
          <a:noFill/>
          <a:ln w="25400" cap="flat" cmpd="sng">
            <a:noFill/>
            <a:prstDash val="solid"/>
            <a:round/>
          </a:ln>
        </p:spPr>
      </p:pic>
      <p:pic>
        <p:nvPicPr>
          <p:cNvPr id="3" name="Picture 3"/>
          <p:cNvPicPr>
            <a:picLocks noChangeAspect="1"/>
          </p:cNvPicPr>
          <p:nvPr/>
        </p:nvPicPr>
        <p:blipFill>
          <a:blip r:embed="rId3"/>
          <a:srcRect/>
          <a:stretch>
            <a:fillRect/>
          </a:stretch>
        </p:blipFill>
        <p:spPr>
          <a:xfrm>
            <a:off x="7404100" y="-3225800"/>
            <a:ext cx="4787900" cy="10375900"/>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0" y="0"/>
            <a:ext cx="3162300" cy="6845300"/>
          </a:xfrm>
          <a:prstGeom prst="rect">
            <a:avLst/>
          </a:prstGeom>
          <a:noFill/>
          <a:ln w="25400" cap="flat" cmpd="sng">
            <a:noFill/>
            <a:prstDash val="solid"/>
            <a:round/>
          </a:ln>
        </p:spPr>
      </p:pic>
      <p:pic>
        <p:nvPicPr>
          <p:cNvPr id="5" name="Picture 5"/>
          <p:cNvPicPr>
            <a:picLocks noChangeAspect="1"/>
          </p:cNvPicPr>
          <p:nvPr/>
        </p:nvPicPr>
        <p:blipFill>
          <a:blip r:embed="rId5"/>
          <a:srcRect/>
          <a:stretch>
            <a:fillRect/>
          </a:stretch>
        </p:blipFill>
        <p:spPr>
          <a:xfrm>
            <a:off x="0" y="444500"/>
            <a:ext cx="3086100" cy="6413500"/>
          </a:xfrm>
          <a:prstGeom prst="rect">
            <a:avLst/>
          </a:prstGeom>
          <a:noFill/>
          <a:ln w="25400" cap="flat" cmpd="sng">
            <a:noFill/>
            <a:prstDash val="solid"/>
            <a:round/>
          </a:ln>
        </p:spPr>
      </p:pic>
      <p:pic>
        <p:nvPicPr>
          <p:cNvPr id="6" name="Picture 6"/>
          <p:cNvPicPr>
            <a:picLocks noChangeAspect="1"/>
          </p:cNvPicPr>
          <p:nvPr/>
        </p:nvPicPr>
        <p:blipFill>
          <a:blip r:embed="rId6"/>
          <a:srcRect/>
          <a:stretch>
            <a:fillRect/>
          </a:stretch>
        </p:blipFill>
        <p:spPr>
          <a:xfrm>
            <a:off x="9017000" y="0"/>
            <a:ext cx="3175000" cy="6858000"/>
          </a:xfrm>
          <a:prstGeom prst="rect">
            <a:avLst/>
          </a:prstGeom>
          <a:noFill/>
          <a:ln w="25400" cap="flat" cmpd="sng">
            <a:noFill/>
            <a:prstDash val="solid"/>
            <a:round/>
          </a:ln>
        </p:spPr>
      </p:pic>
      <p:pic>
        <p:nvPicPr>
          <p:cNvPr id="7" name="Picture 7"/>
          <p:cNvPicPr>
            <a:picLocks noChangeAspect="1"/>
          </p:cNvPicPr>
          <p:nvPr/>
        </p:nvPicPr>
        <p:blipFill>
          <a:blip r:embed="rId7"/>
          <a:srcRect/>
          <a:stretch>
            <a:fillRect/>
          </a:stretch>
        </p:blipFill>
        <p:spPr>
          <a:xfrm>
            <a:off x="2324100" y="12700"/>
            <a:ext cx="3162300" cy="6845300"/>
          </a:xfrm>
          <a:prstGeom prst="rect">
            <a:avLst/>
          </a:prstGeom>
          <a:noFill/>
          <a:ln w="25400" cap="flat" cmpd="sng">
            <a:noFill/>
            <a:prstDash val="solid"/>
            <a:round/>
          </a:ln>
        </p:spPr>
      </p:pic>
      <p:pic>
        <p:nvPicPr>
          <p:cNvPr id="8" name="Picture 8"/>
          <p:cNvPicPr>
            <a:picLocks noChangeAspect="1"/>
          </p:cNvPicPr>
          <p:nvPr/>
        </p:nvPicPr>
        <p:blipFill>
          <a:blip r:embed="rId8"/>
          <a:srcRect/>
          <a:stretch>
            <a:fillRect/>
          </a:stretch>
        </p:blipFill>
        <p:spPr>
          <a:xfrm>
            <a:off x="7404100" y="-1727200"/>
            <a:ext cx="4787900" cy="10375900"/>
          </a:xfrm>
          <a:prstGeom prst="rect">
            <a:avLst/>
          </a:prstGeom>
          <a:noFill/>
          <a:ln w="25400" cap="flat" cmpd="sng">
            <a:noFill/>
            <a:prstDash val="solid"/>
            <a:round/>
          </a:ln>
        </p:spPr>
      </p:pic>
      <p:sp>
        <p:nvSpPr>
          <p:cNvPr id="9" name="AutoShape 9"/>
          <p:cNvSpPr/>
          <p:nvPr/>
        </p:nvSpPr>
        <p:spPr>
          <a:xfrm>
            <a:off x="571500" y="2387600"/>
            <a:ext cx="7620000" cy="12065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ctr">
              <a:lnSpc>
                <a:spcPct val="100000"/>
              </a:lnSpc>
              <a:defRPr/>
            </a:pPr>
            <a:r>
              <a:rPr lang="en-US" sz="64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《图书管理系统》</a:t>
            </a:r>
            <a:endParaRPr lang="en-US" sz="1100"/>
          </a:p>
        </p:txBody>
      </p:sp>
      <p:sp>
        <p:nvSpPr>
          <p:cNvPr id="10" name="AutoShape 10"/>
          <p:cNvSpPr/>
          <p:nvPr/>
        </p:nvSpPr>
        <p:spPr>
          <a:xfrm>
            <a:off x="1803400" y="1765300"/>
            <a:ext cx="4203700" cy="4064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18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LIBRARY MANAGEMENT SYSTEM</a:t>
            </a:r>
            <a:endParaRPr lang="en-US" sz="1100"/>
          </a:p>
        </p:txBody>
      </p:sp>
      <p:pic>
        <p:nvPicPr>
          <p:cNvPr id="11" name="Picture 11"/>
          <p:cNvPicPr>
            <a:picLocks noChangeAspect="1"/>
          </p:cNvPicPr>
          <p:nvPr/>
        </p:nvPicPr>
        <p:blipFill>
          <a:blip r:embed="rId9"/>
          <a:srcRect/>
          <a:stretch>
            <a:fillRect/>
          </a:stretch>
        </p:blipFill>
        <p:spPr>
          <a:xfrm>
            <a:off x="7162800" y="254000"/>
            <a:ext cx="4356100" cy="6807200"/>
          </a:xfrm>
          <a:prstGeom prst="rect">
            <a:avLst/>
          </a:prstGeom>
          <a:noFill/>
          <a:ln w="25400" cap="flat" cmpd="sng">
            <a:noFill/>
            <a:prstDash val="solid"/>
            <a:round/>
          </a:ln>
        </p:spPr>
      </p:pic>
      <p:pic>
        <p:nvPicPr>
          <p:cNvPr id="12" name="Picture 12"/>
          <p:cNvPicPr>
            <a:picLocks noChangeAspect="1"/>
          </p:cNvPicPr>
          <p:nvPr/>
        </p:nvPicPr>
        <p:blipFill>
          <a:blip r:embed="rId10"/>
          <a:srcRect t="86704"/>
          <a:stretch>
            <a:fillRect/>
          </a:stretch>
        </p:blipFill>
        <p:spPr>
          <a:xfrm>
            <a:off x="-50800" y="4527550"/>
            <a:ext cx="12192000" cy="2330450"/>
          </a:xfrm>
          <a:prstGeom prst="rect">
            <a:avLst/>
          </a:prstGeom>
          <a:noFill/>
          <a:ln w="25400" cap="flat" cmpd="sng">
            <a:noFill/>
            <a:prstDash val="solid"/>
            <a:round/>
          </a:ln>
        </p:spPr>
      </p:pic>
      <p:pic>
        <p:nvPicPr>
          <p:cNvPr id="13" name="Picture 13"/>
          <p:cNvPicPr>
            <a:picLocks noChangeAspect="1"/>
          </p:cNvPicPr>
          <p:nvPr/>
        </p:nvPicPr>
        <p:blipFill>
          <a:blip r:embed="rId11"/>
          <a:srcRect/>
          <a:stretch>
            <a:fillRect/>
          </a:stretch>
        </p:blipFill>
        <p:spPr>
          <a:xfrm>
            <a:off x="342900" y="3746500"/>
            <a:ext cx="7124700" cy="546100"/>
          </a:xfrm>
          <a:prstGeom prst="rect">
            <a:avLst/>
          </a:prstGeom>
          <a:noFill/>
          <a:ln w="25400" cap="flat" cmpd="sng">
            <a:noFill/>
            <a:prstDash val="solid"/>
            <a:round/>
          </a:ln>
        </p:spPr>
      </p:pic>
      <p:sp>
        <p:nvSpPr>
          <p:cNvPr id="14" name="AutoShape 14"/>
          <p:cNvSpPr/>
          <p:nvPr/>
        </p:nvSpPr>
        <p:spPr>
          <a:xfrm>
            <a:off x="2032000" y="3810000"/>
            <a:ext cx="3810000" cy="508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2400" b="1" i="0" u="none" strike="noStrike">
                <a:solidFill>
                  <a:srgbClr val="6A529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感谢聆听 敬请指正</a:t>
            </a:r>
            <a:endParaRPr lang="en-US" sz="1100"/>
          </a:p>
        </p:txBody>
      </p:sp>
      <p:sp>
        <p:nvSpPr>
          <p:cNvPr id="15" name="AutoShape 15"/>
          <p:cNvSpPr/>
          <p:nvPr/>
        </p:nvSpPr>
        <p:spPr>
          <a:xfrm>
            <a:off x="749300" y="4584700"/>
            <a:ext cx="6311900" cy="106426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17000"/>
              </a:lnSpc>
              <a:defRPr/>
            </a:pPr>
            <a:r>
              <a:rPr lang="en-US" sz="1800" b="0"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rPr>
              <a:t>欢迎各位老师和同学提问与交流，我们将持续完善系统功能。</a:t>
            </a:r>
            <a:endParaRPr lang="en-US" sz="1800"/>
          </a:p>
        </p:txBody>
      </p:sp>
      <p:pic>
        <p:nvPicPr>
          <p:cNvPr id="16" name="Picture 16"/>
          <p:cNvPicPr>
            <a:picLocks noChangeAspect="1"/>
          </p:cNvPicPr>
          <p:nvPr/>
        </p:nvPicPr>
        <p:blipFill>
          <a:blip r:embed="rId12"/>
          <a:srcRect/>
          <a:stretch>
            <a:fillRect/>
          </a:stretch>
        </p:blipFill>
        <p:spPr>
          <a:xfrm>
            <a:off x="8356600" y="2438400"/>
            <a:ext cx="2971800" cy="3594100"/>
          </a:xfrm>
          <a:prstGeom prst="rect">
            <a:avLst/>
          </a:prstGeom>
          <a:noFill/>
          <a:ln w="25400" cap="flat" cmpd="sng">
            <a:noFill/>
            <a:prstDash val="solid"/>
            <a:round/>
          </a:ln>
        </p:spPr>
      </p:pic>
    </p:spTree>
  </p:cSld>
  <p:clrMapOvr>
    <a:masterClrMapping/>
  </p:clrMapOvr>
</p:sld>
</file>

<file path=ppt/tags/tag1.xml><?xml version="1.0" encoding="utf-8"?>
<p:tagLst xmlns:p="http://schemas.openxmlformats.org/presentationml/2006/main">
  <p:tag name="KSO_WM_MEDIACOVER_FLAG" val="1"/>
  <p:tag name="KSO_WM_UNIT_MEDIACOVER_BTN_STATE" val="1"/>
  <p:tag name="KSO_WM_UNIT_MEDIACOVER_BTNRECT" val="7532*4167*555*555"/>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2845</Words>
  <Application>WPS 演示</Application>
  <PresentationFormat/>
  <Paragraphs>234</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17</vt:i4>
      </vt:variant>
    </vt:vector>
  </HeadingPairs>
  <TitlesOfParts>
    <vt:vector size="28" baseType="lpstr">
      <vt:lpstr>Arial</vt:lpstr>
      <vt:lpstr>宋体</vt:lpstr>
      <vt:lpstr>Wingdings</vt:lpstr>
      <vt:lpstr>Arial</vt:lpstr>
      <vt:lpstr>Noto Serif SC</vt:lpstr>
      <vt:lpstr>微软雅黑</vt:lpstr>
      <vt:lpstr>Noto Sans SC</vt:lpstr>
      <vt:lpstr>Bodoni MT Black</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王子怡</cp:lastModifiedBy>
  <cp:revision>15</cp:revision>
  <dcterms:created xsi:type="dcterms:W3CDTF">2026-05-20T11:52:00Z</dcterms:created>
  <dcterms:modified xsi:type="dcterms:W3CDTF">2026-05-26T12:20:17Z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294D349C1BAA4D13BABD7BD947689BB1_12</vt:lpwstr>
  </property>
</Properties>
</file>